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45 SECONDS)</a:t>
            </a:r>
          </a:p>
          <a:p>
            <a:r>
              <a:t>Good morning/afternoon, respected faculty guide Dr. Pardeep Kumar and members of the evaluation committee. I am Vecha Laxmi Swaraj Babu, registration number 12307477, roll number 45. Today, I am presenting my CA1 Project for INT315 Cluster Computing: 'Sleep Health Analysis and Disorder Risk Prediction Using Apache PySpark'.</a:t>
            </a:r>
          </a:p>
          <a:p/>
          <a:p>
            <a:r>
              <a:t>In this project, we designed and implemented a distributed, multi-class machine learning workflow on Apache Spark. We ingested a cohort of 100,000 patients across 32 clinical and behavioral attributes, applied distributed data engineering and feature pipelines, and trained an ensemble Random Forest classifier that achieved 82.43% test accuracy on 20,000 unseen patients. All code, dataset, and documentation are live on GitHub under Swarajbabu/SLEEP-HEALTH-ANALYSIS.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60 SECONDS)</a:t>
            </a:r>
          </a:p>
          <a:p>
            <a:r>
              <a:t>Let's look at why this project matters. We face two distinct crises in sleep medicine today: a clinical dilemma and a computational memory wall.</a:t>
            </a:r>
          </a:p>
          <a:p/>
          <a:p>
            <a:r>
              <a:t>Clinically, sleep disorders like sleep apnea and insomnia affect over 30% of adults. However, the only gold-standard diagnostic tool we have is Polysomnography—an overnight sleep lab test with dozens of wired sensors attached to the patient. It's expensive, invasive, and has months of waiting time. We cannot use PSG for mass screening.</a:t>
            </a:r>
          </a:p>
          <a:p/>
          <a:p>
            <a:r>
              <a:t>Computationally, while consumer wearables and clinical registries capture daily step counts, nocturnal heart rate, and sleep stages, analyzing 100,000 patient records across 32 clinical features crashes standard single-node tools. If you try to run one-hot encoding, vector assembly, and random forest fitting in Pandas or Scikit-Learn on a standard machine, memory swapping causes severe lag and out-of-memory errors.</a:t>
            </a:r>
          </a:p>
          <a:p/>
          <a:p>
            <a:r>
              <a:t>This project solves both problems: we use distributed cluster computing with Apache Spark to analyze wearable-derived metrics and predict risk categories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45 SECONDS)</a:t>
            </a:r>
          </a:p>
          <a:p>
            <a:r>
              <a:t>To accomplish this, we structured the project into four clear, sequential objectives:</a:t>
            </a:r>
          </a:p>
          <a:p>
            <a:r>
              <a:t>First, distributed ingestion of 100,000 records using PySpark's resilient DataFrame API in local[*] multi-threading mode.</a:t>
            </a:r>
          </a:p>
          <a:p>
            <a:r>
              <a:t>Second, data quality auditing where we run parallel aggregation expressions across all 32 columns at once to confirm zero nulls, followed by exploratory analysis.</a:t>
            </a:r>
          </a:p>
          <a:p>
            <a:r>
              <a:t>Third, target leakage elimination. This is a critical engineering decision: we explicitly drop post-sleep recovery variables like felt_rested and cognitive_score, because in real prospective screening, you only have pre-sleep and overnight vitals. We then bundle feature transformations into a Spark MLlib Pipeline.</a:t>
            </a:r>
          </a:p>
          <a:p>
            <a:r>
              <a:t>Fourth, distributed ensemble model fitting using Random Forest with 50 trees, caching inference DataFrames in executor memory, and calculating weighted multiclass metrics.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50 SECONDS)</a:t>
            </a:r>
          </a:p>
          <a:p>
            <a:r>
              <a:t>Let's look at the dataset architecture. We analyzed the Sleep Health and Daily Performance Dataset, which contains 100,000 patient observations and 32 attributes, calibrated against CDC NHIS benchmarks.</a:t>
            </a:r>
          </a:p>
          <a:p/>
          <a:p>
            <a:r>
              <a:t>The feature space spans five distinct clinical categories: Demographics, Sleep Architecture, Cardiovascular Vitals, Lifestyle and Environmental Factors, and Circadian Dynamics. Notice the bottom section: we explicitly identify three columns for exclusion—person_id and the two retrospective outcome columns, felt_rested and cognitive_performance_score.</a:t>
            </a:r>
          </a:p>
          <a:p/>
          <a:p>
            <a:r>
              <a:t>On the right, examine the target variable distribution. It is stratified into four classes: Healthy at 54.16%, Mild at 33.48%, Moderate at 8.30%, and Severe at 4.07%. This class imbalance is crucial. Healthy and Mild make up over 87% of all patients. If a model simply guessed 'Healthy' every single time, it would appear 54% accurate on paper while being completely useless as a diagnostic tool. Our Spark model will achieve 82.43% precision-recall balanced accuracy.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60 SECONDS)</a:t>
            </a:r>
          </a:p>
          <a:p>
            <a:r>
              <a:t>Here is the high-level system architecture of our distributed pipeline. It consists of five orchestrated stages:</a:t>
            </a:r>
          </a:p>
          <a:p>
            <a:r>
              <a:t>Stage 1 is lazy distributed ingestion. Spark reads the 100,000 rows without immediately loading all data into JVM heap memory.</a:t>
            </a:r>
          </a:p>
          <a:p>
            <a:r>
              <a:t>Stage 2 is parallel quality auditing, verifying 0 missing values across all 32 attributes.</a:t>
            </a:r>
          </a:p>
          <a:p>
            <a:r>
              <a:t>Stage 3 is leakage sanitization, splitting data 80/20 using seed 42.</a:t>
            </a:r>
          </a:p>
          <a:p>
            <a:r>
              <a:t>Stage 4 is the PySpark MLlib Pipeline, where StringIndexers, OneHotEncoders, VectorAssembler, and RandomForestClassifier are bundled into a single atomic workflow.</a:t>
            </a:r>
          </a:p>
          <a:p>
            <a:r>
              <a:t>Stage 5 is cached distributed evaluation.</a:t>
            </a:r>
          </a:p>
          <a:p/>
          <a:p>
            <a:r>
              <a:t>Notice the bottom section on cluster computing principles. The two things that make PySpark dramatically faster than standard Python are Catalyst query optimization and in-memory caching. By calling .cache() on our test predictions, we prevent Spark from re-executing the entire 5-stage feature transformation Directed Acyclic Graph four times during our metric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45 SECONDS)</a:t>
            </a:r>
          </a:p>
          <a:p>
            <a:r>
              <a:t>On this slide, you can see the direct execution outputs from our notebook.</a:t>
            </a:r>
          </a:p>
          <a:p>
            <a:r>
              <a:t>On the left is our distributed missing value audit. Instead of looping through columns sequentially like standard Python would, we constructed a single Spark SQL select expression combining 32 conditional aggregations. Spark distributes this single pass across all partition blocks, verifying in parallel that zero null values exist across the entire 100,000-record dataset.</a:t>
            </a:r>
          </a:p>
          <a:p/>
          <a:p>
            <a:r>
              <a:t>On the right is our empirical class distribution plot generated using Matplotlib following a Spark collect action. Notice the steep decline: Healthy represents over 54,000 cases, while Severe represents only 4,066 cases. This confirms that standard unweighted accuracy could be easily fooled by a dumb baseline, necessitating weighted multiclass metrics.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50 SECONDS)</a:t>
            </a:r>
          </a:p>
          <a:p>
            <a:r>
              <a:t>Here are the four clinical biomarker gradients discovered by running distributed group-by aggregations in PySpark.</a:t>
            </a:r>
          </a:p>
          <a:p/>
          <a:p>
            <a:r>
              <a:t>First, Sleep Duration drops steadily from 6.93 hours in healthy individuals to 4.84 hours in severe patients—a 30.2% drop.</a:t>
            </a:r>
          </a:p>
          <a:p>
            <a:r>
              <a:t>Second, Sleep Quality degrades by over 60%, falling from 5.77 down to 2.29.</a:t>
            </a:r>
          </a:p>
          <a:p>
            <a:r>
              <a:t>Third, Daily Stress climbs from 5.85 to 7.48, reflecting chronic sympathetic nervous system hyperactivity.</a:t>
            </a:r>
          </a:p>
          <a:p>
            <a:r>
              <a:t>Fourth, look at Cognitive Performance: it plummets by 73.7%, collapsing from 72.35 down to just 19.04.</a:t>
            </a:r>
          </a:p>
          <a:p/>
          <a:p>
            <a:r>
              <a:t>This is a vital medical insight: the cognitive decline (-73.7%) and quality loss (-60.3%) are more than double the rate of sleep duration loss (-30.2%). Disordered sleep is not just about fewer hours; it causes severe neurocognitive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55 SECONDS)</a:t>
            </a:r>
          </a:p>
          <a:p>
            <a:r>
              <a:t>On Slide 8, I want to emphasize our rigorous data engineering methodology: specifically, how we avoided target leakage.</a:t>
            </a:r>
          </a:p>
          <a:p/>
          <a:p>
            <a:r>
              <a:t>In medical AI, many papers achieve 99% accuracy because of target leakage. In this dataset, there are two retrospective variables: felt_rested and cognitive_performance_score. These are recorded the following morning. If a patient feels unrefreshed or has a collapsed cognitive score, they already have symptoms of the disorder! If you include them as inputs, your model is not predicting future risk—it is simply confirming an existing consequence. To ensure our model can be deployed as a genuine prospective screening tool, we explicitly stripped these columns along with person_id.</a:t>
            </a:r>
          </a:p>
          <a:p/>
          <a:p>
            <a:r>
              <a:t>On the right, you see our Spark MLlib pipeline stages: StringIndexer maps string categories, OneHotEncoder creates sparse vectors, and VectorAssembler compiles 28 clean attributes into a single feature vector.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45 SECONDS)</a:t>
            </a:r>
          </a:p>
          <a:p>
            <a:r>
              <a:t>Turning to model training: why did we select RandomForestClassifier in PySpark MLlib?</a:t>
            </a:r>
          </a:p>
          <a:p/>
          <a:p>
            <a:r>
              <a:t>First, clinical biomarkers interact non-linearly. A person with 6 hours of sleep might be completely healthy if their stress is low, but high stress combined with high evening blue light exposure triggers high disorder risk. Tree ensembles capture these interactions naturally.</a:t>
            </a:r>
          </a:p>
          <a:p>
            <a:r>
              <a:t>Second, Random Forest is uniquely suited for cluster computing. Because individual decision trees are independent, Spark distributes tree-building jobs across all CPU worker threads concurrently.</a:t>
            </a:r>
          </a:p>
          <a:p>
            <a:r>
              <a:t>We configured 50 trees with a maximum depth of 8, trained on 80,000 patient records, and generated predictions on 20,000 unseen hold-out patients.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50 SECONDS)</a:t>
            </a:r>
          </a:p>
          <a:p>
            <a:r>
              <a:t>Now, let's examine the primary quantitative results of our project.</a:t>
            </a:r>
          </a:p>
          <a:p/>
          <a:p>
            <a:r>
              <a:t>Evaluated on 20,000 completely unseen patients via PySpark's MulticlassClassificationEvaluator:</a:t>
            </a:r>
          </a:p>
          <a:p>
            <a:r>
              <a:t>Our overall classification accuracy reached 82.43%.</a:t>
            </a:r>
          </a:p>
          <a:p>
            <a:r>
              <a:t>Our weighted F1-score reached 81.32%.</a:t>
            </a:r>
          </a:p>
          <a:p>
            <a:r>
              <a:t>Our weighted precision is 80.35%, and weighted recall is 82.43%.</a:t>
            </a:r>
          </a:p>
          <a:p/>
          <a:p>
            <a:r>
              <a:t>Why is this impressive? First, remember our naive majority baseline: guessing 'Healthy' every time gives 54.16%. Our model outperforms the baseline by more than 28 percentage points.</a:t>
            </a:r>
          </a:p>
          <a:p>
            <a:r>
              <a:t>Second, the close parity between precision (80.35%) and recall (82.43%) demonstrates that the Random Forest model is clinically balanced: it minimizes false-positive alarms while maintaining high sensitivity to prevent dangerous false negatives in patients with severe apnea.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55 SECONDS)</a:t>
            </a:r>
          </a:p>
          <a:p>
            <a:r>
              <a:t>Because this is an evaluation for INT315 Cluster Computing, Slide 11 breaks down the three core distributed computing advantages of Apache Spark over single-node systems:</a:t>
            </a:r>
          </a:p>
          <a:p/>
          <a:p>
            <a:r>
              <a:t>First: Catalyst Query Optimization and Lazy DAG Execution. Spark does not compute intermediate steps immediately. It optimizes the physical execution plan by combining column projections and pushing down predicates before touching memory.</a:t>
            </a:r>
          </a:p>
          <a:p>
            <a:r>
              <a:t>Second: In-Memory Caching. In our code, we explicitly invoked predictions.cache(). Because we ran four separate evaluations—Accuracy, F1, Precision, and Recall—without caching, Spark would have re-evaluated the entire feature indexer, encoder, and random forest inference four separate times! Caching saved substantial runtime.</a:t>
            </a:r>
          </a:p>
          <a:p>
            <a:r>
              <a:t>Third: Parallel tree induction across CPU worker threads.</a:t>
            </a:r>
          </a:p>
          <a:p>
            <a:r>
              <a:t>Fourth: Enterprise scalability. This code is written with standard PySpark APIs. It can be moved directly from Google Colab to an AWS EMR cluster or on-premise Hadoop YARN cluster without changing the pipeline logic.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45 SECONDS)</a:t>
            </a:r>
          </a:p>
          <a:p>
            <a:r>
              <a:t>An experienced engineer always evaluates the trade-offs and limitations of their work.</a:t>
            </a:r>
          </a:p>
          <a:p/>
          <a:p>
            <a:r>
              <a:t>On the left, we acknowledge three limitations: first, the dataset is calibrated against CDC NHIS data but is synthetically generated; second, our cluster was simulated in local[*] mode on Google Colab rather than a physical multi-server rack; and third, hyperparameters were fixed manually.</a:t>
            </a:r>
          </a:p>
          <a:p/>
          <a:p>
            <a:r>
              <a:t>On the right, we outline our roadmap for future enhancements:</a:t>
            </a:r>
          </a:p>
          <a:p>
            <a:r>
              <a:t>First, distributed hyperparameter tuning using ParamGridBuilder and CrossValidator.</a:t>
            </a:r>
          </a:p>
          <a:p>
            <a:r>
              <a:t>Second, class-weighted rebalancing to increase sensitivity on the rare 4% severe group.</a:t>
            </a:r>
          </a:p>
          <a:p>
            <a:r>
              <a:t>Third, extending the architecture to Spark Structured Streaming and Apache Kafka to process real-time wearable streams as patients sleep.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(TIME: 40 SECONDS)</a:t>
            </a:r>
          </a:p>
          <a:p>
            <a:r>
              <a:t>In conclusion, we have demonstrated that Apache PySpark provides the ideal distributed cluster computing infrastructure for large-scale clinical sleep risk triage. We achieved 82.43% accuracy on 20,000 unseen patients while eliminating single-node memory failure and preventing target leakage.</a:t>
            </a:r>
          </a:p>
          <a:p/>
          <a:p>
            <a:r>
              <a:t>All project artifacts—the 16-page report, executable notebook, dataset, visual screenshots, and comprehensive README—are live and verified in our GitHub repository.</a:t>
            </a:r>
          </a:p>
          <a:p/>
          <a:p>
            <a:r>
              <a:t>Thank you, Dr. Pardeep Kumar and respected panel members. I am now ready for your questions and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4754880" cy="347472"/>
          </a:xfrm>
          <a:prstGeom prst="roundRect">
            <a:avLst/>
          </a:prstGeom>
          <a:solidFill>
            <a:srgbClr val="1C2A41"/>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LOVELY PROFESSIONAL UNIVERSITY | INT315 / NT315</a:t>
            </a:r>
          </a:p>
        </p:txBody>
      </p:sp>
      <p:sp>
        <p:nvSpPr>
          <p:cNvPr id="4" name="Rounded Rectangle 3"/>
          <p:cNvSpPr/>
          <p:nvPr/>
        </p:nvSpPr>
        <p:spPr>
          <a:xfrm>
            <a:off x="8961120" y="594360"/>
            <a:ext cx="2499055" cy="868680"/>
          </a:xfrm>
          <a:prstGeom prst="roundRect">
            <a:avLst/>
          </a:prstGeom>
          <a:solidFill>
            <a:srgbClr val="FFFFFF"/>
          </a:solidFill>
          <a:ln w="1905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pu_logo_highres_transparent.png"/>
          <p:cNvPicPr>
            <a:picLocks noChangeAspect="1"/>
          </p:cNvPicPr>
          <p:nvPr/>
        </p:nvPicPr>
        <p:blipFill>
          <a:blip r:embed="rId2"/>
          <a:stretch>
            <a:fillRect/>
          </a:stretch>
        </p:blipFill>
        <p:spPr>
          <a:xfrm>
            <a:off x="9098280" y="658368"/>
            <a:ext cx="2240280" cy="782275"/>
          </a:xfrm>
          <a:prstGeom prst="rect">
            <a:avLst/>
          </a:prstGeom>
        </p:spPr>
      </p:pic>
      <p:sp>
        <p:nvSpPr>
          <p:cNvPr id="6" name="TextBox 5"/>
          <p:cNvSpPr txBox="1"/>
          <p:nvPr/>
        </p:nvSpPr>
        <p:spPr>
          <a:xfrm>
            <a:off x="731520" y="1234440"/>
            <a:ext cx="10698480" cy="1371600"/>
          </a:xfrm>
          <a:prstGeom prst="rect">
            <a:avLst/>
          </a:prstGeom>
          <a:noFill/>
        </p:spPr>
        <p:txBody>
          <a:bodyPr wrap="square">
            <a:spAutoFit/>
          </a:bodyPr>
          <a:lstStyle/>
          <a:p>
            <a:pPr>
              <a:spcAft>
                <a:spcPts val="1000"/>
              </a:spcAft>
              <a:defRPr sz="2800" b="1">
                <a:solidFill>
                  <a:srgbClr val="F8FAFC"/>
                </a:solidFill>
              </a:defRPr>
            </a:pPr>
            <a:r>
              <a:t>Sleep Health Analysis &amp; Disorder Risk Prediction</a:t>
            </a:r>
            <a:br/>
            <a:r>
              <a:t>Using Apache PySpark</a:t>
            </a:r>
          </a:p>
          <a:p>
            <a:pPr>
              <a:defRPr sz="1400">
                <a:solidFill>
                  <a:srgbClr val="38BDF8"/>
                </a:solidFill>
              </a:defRPr>
            </a:pPr>
            <a:r>
              <a:t>Distributed Multi-Class Machine Learning Workflow on Apache Spark Cluster Environment</a:t>
            </a:r>
          </a:p>
        </p:txBody>
      </p:sp>
      <p:sp>
        <p:nvSpPr>
          <p:cNvPr id="7" name="Rounded Rectangle 6"/>
          <p:cNvSpPr/>
          <p:nvPr/>
        </p:nvSpPr>
        <p:spPr>
          <a:xfrm>
            <a:off x="731520" y="2926080"/>
            <a:ext cx="6217920" cy="310896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063240"/>
            <a:ext cx="5760720" cy="2834640"/>
          </a:xfrm>
          <a:prstGeom prst="rect">
            <a:avLst/>
          </a:prstGeom>
          <a:noFill/>
        </p:spPr>
        <p:txBody>
          <a:bodyPr wrap="square">
            <a:spAutoFit/>
          </a:bodyPr>
          <a:lstStyle/>
          <a:p>
            <a:pPr>
              <a:spcAft>
                <a:spcPts val="1200"/>
              </a:spcAft>
              <a:defRPr sz="1100" b="1">
                <a:solidFill>
                  <a:srgbClr val="F97316"/>
                </a:solidFill>
              </a:defRPr>
            </a:pPr>
            <a:r>
              <a:t>PROJECT METADATA &amp; ACADEMIC DEFENSE</a:t>
            </a:r>
          </a:p>
          <a:p>
            <a:pPr>
              <a:spcAft>
                <a:spcPts val="500"/>
              </a:spcAft>
            </a:pPr>
            <a:r>
              <a:rPr sz="1000" b="1">
                <a:solidFill>
                  <a:srgbClr val="94A3B8"/>
                </a:solidFill>
              </a:rPr>
              <a:t>Candidate Name        : </a:t>
            </a:r>
            <a:r>
              <a:rPr sz="1050" b="1">
                <a:solidFill>
                  <a:srgbClr val="F8FAFC"/>
                </a:solidFill>
              </a:rPr>
              <a:t>Vecha Laxmi Swaraj Babu</a:t>
            </a:r>
          </a:p>
          <a:p>
            <a:pPr>
              <a:spcAft>
                <a:spcPts val="500"/>
              </a:spcAft>
            </a:pPr>
            <a:r>
              <a:rPr sz="1000" b="1">
                <a:solidFill>
                  <a:srgbClr val="94A3B8"/>
                </a:solidFill>
              </a:rPr>
              <a:t>Registration Number   : </a:t>
            </a:r>
            <a:r>
              <a:rPr sz="1050" b="1">
                <a:solidFill>
                  <a:srgbClr val="F8FAFC"/>
                </a:solidFill>
              </a:rPr>
              <a:t>12307477</a:t>
            </a:r>
          </a:p>
          <a:p>
            <a:pPr>
              <a:spcAft>
                <a:spcPts val="500"/>
              </a:spcAft>
            </a:pPr>
            <a:r>
              <a:rPr sz="1000" b="1">
                <a:solidFill>
                  <a:srgbClr val="94A3B8"/>
                </a:solidFill>
              </a:rPr>
              <a:t>Roll Number           : </a:t>
            </a:r>
            <a:r>
              <a:rPr sz="1050" b="1">
                <a:solidFill>
                  <a:srgbClr val="F8FAFC"/>
                </a:solidFill>
              </a:rPr>
              <a:t>45</a:t>
            </a:r>
          </a:p>
          <a:p>
            <a:pPr>
              <a:spcAft>
                <a:spcPts val="500"/>
              </a:spcAft>
            </a:pPr>
            <a:r>
              <a:rPr sz="1000" b="1">
                <a:solidFill>
                  <a:srgbClr val="94A3B8"/>
                </a:solidFill>
              </a:rPr>
              <a:t>Course &amp; Code         : </a:t>
            </a:r>
            <a:r>
              <a:rPr sz="1050" b="1">
                <a:solidFill>
                  <a:srgbClr val="F8FAFC"/>
                </a:solidFill>
              </a:rPr>
              <a:t>INT315 / NT315 : Cluster Computing</a:t>
            </a:r>
          </a:p>
          <a:p>
            <a:pPr>
              <a:spcAft>
                <a:spcPts val="500"/>
              </a:spcAft>
            </a:pPr>
            <a:r>
              <a:rPr sz="1000" b="1">
                <a:solidFill>
                  <a:srgbClr val="94A3B8"/>
                </a:solidFill>
              </a:rPr>
              <a:t>Faculty Supervisor    : </a:t>
            </a:r>
            <a:r>
              <a:rPr sz="1050" b="1">
                <a:solidFill>
                  <a:srgbClr val="F8FAFC"/>
                </a:solidFill>
              </a:rPr>
              <a:t>Dr. / Prof. Pardeep Kumar</a:t>
            </a:r>
          </a:p>
          <a:p>
            <a:pPr>
              <a:spcAft>
                <a:spcPts val="500"/>
              </a:spcAft>
            </a:pPr>
            <a:r>
              <a:rPr sz="1000" b="1">
                <a:solidFill>
                  <a:srgbClr val="94A3B8"/>
                </a:solidFill>
              </a:rPr>
              <a:t>School / Department   : </a:t>
            </a:r>
            <a:r>
              <a:rPr sz="1050" b="1">
                <a:solidFill>
                  <a:srgbClr val="F8FAFC"/>
                </a:solidFill>
              </a:rPr>
              <a:t>School of Computer Science, LPU</a:t>
            </a:r>
          </a:p>
          <a:p>
            <a:pPr>
              <a:spcAft>
                <a:spcPts val="500"/>
              </a:spcAft>
            </a:pPr>
            <a:r>
              <a:rPr sz="1000" b="1">
                <a:solidFill>
                  <a:srgbClr val="94A3B8"/>
                </a:solidFill>
              </a:rPr>
              <a:t>Academic Assessment   : </a:t>
            </a:r>
            <a:r>
              <a:rPr sz="1050" b="1">
                <a:solidFill>
                  <a:srgbClr val="F8FAFC"/>
                </a:solidFill>
              </a:rPr>
              <a:t>CA1 Project Evaluation</a:t>
            </a:r>
          </a:p>
        </p:txBody>
      </p:sp>
      <p:sp>
        <p:nvSpPr>
          <p:cNvPr id="9" name="Rounded Rectangle 8"/>
          <p:cNvSpPr/>
          <p:nvPr/>
        </p:nvSpPr>
        <p:spPr>
          <a:xfrm>
            <a:off x="7132320" y="2926080"/>
            <a:ext cx="4327855" cy="3108960"/>
          </a:xfrm>
          <a:prstGeom prst="roundRect">
            <a:avLst/>
          </a:prstGeom>
          <a:solidFill>
            <a:srgbClr val="141E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3063240"/>
            <a:ext cx="3886200" cy="2834640"/>
          </a:xfrm>
          <a:prstGeom prst="rect">
            <a:avLst/>
          </a:prstGeom>
          <a:noFill/>
        </p:spPr>
        <p:txBody>
          <a:bodyPr wrap="square">
            <a:spAutoFit/>
          </a:bodyPr>
          <a:lstStyle/>
          <a:p>
            <a:pPr>
              <a:spcAft>
                <a:spcPts val="1400"/>
              </a:spcAft>
              <a:defRPr sz="1100" b="1">
                <a:solidFill>
                  <a:srgbClr val="38BDF8"/>
                </a:solidFill>
              </a:defRPr>
            </a:pPr>
            <a:r>
              <a:t>DISTRIBUTED CLUSTER METRICS</a:t>
            </a:r>
          </a:p>
          <a:p>
            <a:pPr>
              <a:spcAft>
                <a:spcPts val="800"/>
              </a:spcAft>
            </a:pPr>
            <a:r>
              <a:rPr sz="1600" b="1">
                <a:solidFill>
                  <a:srgbClr val="38BDF8"/>
                </a:solidFill>
              </a:rPr>
              <a:t>100,000  </a:t>
            </a:r>
            <a:r>
              <a:rPr sz="950">
                <a:solidFill>
                  <a:srgbClr val="94A3B8"/>
                </a:solidFill>
              </a:rPr>
              <a:t>Patient Cohort Records (14.87 MB)</a:t>
            </a:r>
          </a:p>
          <a:p>
            <a:pPr>
              <a:spcAft>
                <a:spcPts val="800"/>
              </a:spcAft>
            </a:pPr>
            <a:r>
              <a:rPr sz="1600" b="1">
                <a:solidFill>
                  <a:srgbClr val="10B981"/>
                </a:solidFill>
              </a:rPr>
              <a:t>82.43%  </a:t>
            </a:r>
            <a:r>
              <a:rPr sz="950">
                <a:solidFill>
                  <a:srgbClr val="94A3B8"/>
                </a:solidFill>
              </a:rPr>
              <a:t>Hold-Out Classification Accuracy</a:t>
            </a:r>
          </a:p>
          <a:p>
            <a:pPr>
              <a:spcAft>
                <a:spcPts val="800"/>
              </a:spcAft>
            </a:pPr>
            <a:r>
              <a:rPr sz="1600" b="1">
                <a:solidFill>
                  <a:srgbClr val="10B981"/>
                </a:solidFill>
              </a:rPr>
              <a:t>81.32%  </a:t>
            </a:r>
            <a:r>
              <a:rPr sz="950">
                <a:solidFill>
                  <a:srgbClr val="94A3B8"/>
                </a:solidFill>
              </a:rPr>
              <a:t>Weighted Multiclass F1-Score</a:t>
            </a:r>
          </a:p>
          <a:p>
            <a:pPr>
              <a:spcAft>
                <a:spcPts val="800"/>
              </a:spcAft>
            </a:pPr>
            <a:r>
              <a:rPr sz="1600" b="1">
                <a:solidFill>
                  <a:srgbClr val="F97316"/>
                </a:solidFill>
              </a:rPr>
              <a:t>local[*]  </a:t>
            </a:r>
            <a:r>
              <a:rPr sz="950">
                <a:solidFill>
                  <a:srgbClr val="94A3B8"/>
                </a:solidFill>
              </a:rPr>
              <a:t>Distributed Multi-Thread Master Mode</a:t>
            </a:r>
          </a:p>
        </p:txBody>
      </p:sp>
      <p:sp>
        <p:nvSpPr>
          <p:cNvPr id="11" name="Rectangle 10"/>
          <p:cNvSpPr/>
          <p:nvPr/>
        </p:nvSpPr>
        <p:spPr>
          <a:xfrm>
            <a:off x="731520" y="630936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55080"/>
            <a:ext cx="10728655" cy="320040"/>
          </a:xfrm>
          <a:prstGeom prst="rect">
            <a:avLst/>
          </a:prstGeom>
          <a:noFill/>
        </p:spPr>
        <p:txBody>
          <a:bodyPr wrap="none">
            <a:spAutoFit/>
          </a:bodyPr>
          <a:lstStyle/>
          <a:p>
            <a:pPr algn="ctr">
              <a:defRPr sz="850">
                <a:solidFill>
                  <a:srgbClr val="94A3B8"/>
                </a:solidFill>
              </a:defRPr>
            </a:pPr>
            <a:r>
              <a:t>GitHub Repository: Swarajbabu/SLEEP-HEALTH-ANALYSIS  •  PySpark MLlib  •  Random Forest Classifier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PROBLEM STATEMENT &amp; MOTIVATION</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Clinical Dilemma vs. Computational Bottleneck in Sleep Medicine</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02 / 13</a:t>
            </a:r>
          </a:p>
        </p:txBody>
      </p:sp>
      <p:sp>
        <p:nvSpPr>
          <p:cNvPr id="10" name="Rounded Rectangle 9"/>
          <p:cNvSpPr/>
          <p:nvPr/>
        </p:nvSpPr>
        <p:spPr>
          <a:xfrm>
            <a:off x="731520" y="1417320"/>
            <a:ext cx="5212080" cy="384048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3566160"/>
          </a:xfrm>
          <a:prstGeom prst="rect">
            <a:avLst/>
          </a:prstGeom>
          <a:noFill/>
        </p:spPr>
        <p:txBody>
          <a:bodyPr wrap="square">
            <a:spAutoFit/>
          </a:bodyPr>
          <a:lstStyle/>
          <a:p>
            <a:pPr>
              <a:spcAft>
                <a:spcPts val="1200"/>
              </a:spcAft>
              <a:defRPr sz="1200" b="1">
                <a:solidFill>
                  <a:srgbClr val="F97316"/>
                </a:solidFill>
              </a:defRPr>
            </a:pPr>
            <a:r>
              <a:t>THE CLINICAL BOTTLENECK (PSG LIMITS)</a:t>
            </a:r>
          </a:p>
          <a:p>
            <a:pPr>
              <a:spcAft>
                <a:spcPts val="600"/>
              </a:spcAft>
            </a:pPr>
            <a:r>
              <a:rPr b="1" sz="1000">
                <a:solidFill>
                  <a:srgbClr val="F8FAFC"/>
                </a:solidFill>
              </a:rPr>
              <a:t>•  High Prevalence: </a:t>
            </a:r>
            <a:r>
              <a:rPr sz="950">
                <a:solidFill>
                  <a:srgbClr val="94A3B8"/>
                </a:solidFill>
              </a:rPr>
              <a:t>Over 30% of adults worldwide suffer from chronic sleep disorders such as Obstructive Sleep Apnea (OSA) and Chronic Insomnia.</a:t>
            </a:r>
          </a:p>
          <a:p>
            <a:pPr>
              <a:spcAft>
                <a:spcPts val="600"/>
              </a:spcAft>
            </a:pPr>
            <a:r>
              <a:rPr b="1" sz="1000">
                <a:solidFill>
                  <a:srgbClr val="F8FAFC"/>
                </a:solidFill>
              </a:rPr>
              <a:t>•  Gold-Standard Barrier: </a:t>
            </a:r>
            <a:r>
              <a:rPr sz="950">
                <a:solidFill>
                  <a:srgbClr val="94A3B8"/>
                </a:solidFill>
              </a:rPr>
              <a:t>Diagnosis strictly relies on overnight Polysomnography (PSG) in dedicated sleep laboratories with multi-sensor body attachments.</a:t>
            </a:r>
          </a:p>
          <a:p>
            <a:pPr>
              <a:spcAft>
                <a:spcPts val="600"/>
              </a:spcAft>
            </a:pPr>
            <a:r>
              <a:rPr b="1" sz="1000">
                <a:solidFill>
                  <a:srgbClr val="F8FAFC"/>
                </a:solidFill>
              </a:rPr>
              <a:t>•  Severe Constraints: </a:t>
            </a:r>
            <a:r>
              <a:rPr sz="950">
                <a:solidFill>
                  <a:srgbClr val="94A3B8"/>
                </a:solidFill>
              </a:rPr>
              <a:t>PSG is highly invasive, wire-tethered, cost-prohibitive, and suffers from multi-month waiting lists in clinical facilities.</a:t>
            </a:r>
          </a:p>
          <a:p>
            <a:pPr>
              <a:spcAft>
                <a:spcPts val="600"/>
              </a:spcAft>
            </a:pPr>
            <a:r>
              <a:rPr b="1" sz="1000">
                <a:solidFill>
                  <a:srgbClr val="F8FAFC"/>
                </a:solidFill>
              </a:rPr>
              <a:t>•  Triage Failure: </a:t>
            </a:r>
            <a:r>
              <a:rPr sz="950">
                <a:solidFill>
                  <a:srgbClr val="94A3B8"/>
                </a:solidFill>
              </a:rPr>
              <a:t>PSG cannot scale for population-wide screening or early preventative intervention, necessitating non-invasive wearable-based screening.</a:t>
            </a:r>
          </a:p>
        </p:txBody>
      </p:sp>
      <p:sp>
        <p:nvSpPr>
          <p:cNvPr id="12" name="Rounded Rectangle 11"/>
          <p:cNvSpPr/>
          <p:nvPr/>
        </p:nvSpPr>
        <p:spPr>
          <a:xfrm>
            <a:off x="6217920" y="1417320"/>
            <a:ext cx="5242255" cy="384048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76495" cy="3566160"/>
          </a:xfrm>
          <a:prstGeom prst="rect">
            <a:avLst/>
          </a:prstGeom>
          <a:noFill/>
        </p:spPr>
        <p:txBody>
          <a:bodyPr wrap="square">
            <a:spAutoFit/>
          </a:bodyPr>
          <a:lstStyle/>
          <a:p>
            <a:pPr>
              <a:spcAft>
                <a:spcPts val="1200"/>
              </a:spcAft>
              <a:defRPr sz="1200" b="1">
                <a:solidFill>
                  <a:srgbClr val="38BDF8"/>
                </a:solidFill>
              </a:defRPr>
            </a:pPr>
            <a:r>
              <a:t>THE COMPUTATIONAL MEMORY WALL</a:t>
            </a:r>
          </a:p>
          <a:p>
            <a:pPr>
              <a:spcAft>
                <a:spcPts val="600"/>
              </a:spcAft>
            </a:pPr>
            <a:r>
              <a:rPr b="1" sz="1000">
                <a:solidFill>
                  <a:srgbClr val="F8FAFC"/>
                </a:solidFill>
              </a:rPr>
              <a:t>•  Massive Telemetry: </a:t>
            </a:r>
            <a:r>
              <a:rPr sz="950">
                <a:solidFill>
                  <a:srgbClr val="94A3B8"/>
                </a:solidFill>
              </a:rPr>
              <a:t>Modern smartwatches and clinical EHRs generate continuous high-frequency vitals, creating multi-gigabyte cohort tables.</a:t>
            </a:r>
          </a:p>
          <a:p>
            <a:pPr>
              <a:spcAft>
                <a:spcPts val="600"/>
              </a:spcAft>
            </a:pPr>
            <a:r>
              <a:rPr b="1" sz="1000">
                <a:solidFill>
                  <a:srgbClr val="F8FAFC"/>
                </a:solidFill>
              </a:rPr>
              <a:t>•  Single-Node Failure: </a:t>
            </a:r>
            <a:r>
              <a:rPr sz="950">
                <a:solidFill>
                  <a:srgbClr val="94A3B8"/>
                </a:solidFill>
              </a:rPr>
              <a:t>Traditional Python frameworks (Pandas, Scikit-Learn) load full datasets into monolithic RAM and execute on a single CPU core.</a:t>
            </a:r>
          </a:p>
          <a:p>
            <a:pPr>
              <a:spcAft>
                <a:spcPts val="600"/>
              </a:spcAft>
            </a:pPr>
            <a:r>
              <a:rPr b="1" sz="1000">
                <a:solidFill>
                  <a:srgbClr val="F8FAFC"/>
                </a:solidFill>
              </a:rPr>
              <a:t>•  Scaling Bottleneck: </a:t>
            </a:r>
            <a:r>
              <a:rPr sz="950">
                <a:solidFill>
                  <a:srgbClr val="94A3B8"/>
                </a:solidFill>
              </a:rPr>
              <a:t>At 100,000+ records and 32 features, encoding, vector assembly, and ensemble fitting cause memory swapping, disk thrashing, and crashes.</a:t>
            </a:r>
          </a:p>
          <a:p>
            <a:pPr>
              <a:spcAft>
                <a:spcPts val="600"/>
              </a:spcAft>
            </a:pPr>
            <a:r>
              <a:rPr b="1" sz="1000">
                <a:solidFill>
                  <a:srgbClr val="F8FAFC"/>
                </a:solidFill>
              </a:rPr>
              <a:t>•  Horizontal Wall: </a:t>
            </a:r>
            <a:r>
              <a:rPr sz="950">
                <a:solidFill>
                  <a:srgbClr val="94A3B8"/>
                </a:solidFill>
              </a:rPr>
              <a:t>Single-node tools cannot scale linearly as patient registries grow into millions of observations without distributed cluster architectures.</a:t>
            </a:r>
          </a:p>
        </p:txBody>
      </p:sp>
      <p:sp>
        <p:nvSpPr>
          <p:cNvPr id="14" name="Rounded Rectangle 13"/>
          <p:cNvSpPr/>
          <p:nvPr/>
        </p:nvSpPr>
        <p:spPr>
          <a:xfrm>
            <a:off x="731520" y="5440680"/>
            <a:ext cx="10728655" cy="868680"/>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32120"/>
            <a:ext cx="10362895" cy="731520"/>
          </a:xfrm>
          <a:prstGeom prst="rect">
            <a:avLst/>
          </a:prstGeom>
          <a:noFill/>
        </p:spPr>
        <p:txBody>
          <a:bodyPr wrap="square">
            <a:spAutoFit/>
          </a:bodyPr>
          <a:lstStyle/>
          <a:p>
            <a:r>
              <a:rPr b="1" sz="1100">
                <a:solidFill>
                  <a:srgbClr val="38BDF8"/>
                </a:solidFill>
              </a:rPr>
              <a:t>THE DISTRIBUTED CLUSTER COMPUTING PARADIGM: </a:t>
            </a:r>
            <a:r>
              <a:rPr sz="1000">
                <a:solidFill>
                  <a:srgbClr val="F8FAFC"/>
                </a:solidFill>
              </a:rPr>
              <a:t>Apache PySpark bridges this dual crisis by partitioning 100,000 records across parallel worker threads (`local[*]`), compiling queries with the Catalyst optimizer, and executing distributed MLlib pipelines without single-node memory exhaustion.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PROJECT OBJECTIVES &amp; SCOPE</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Core Objectives of the Distributed Machine Learning Workflow</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03 / 13</a:t>
            </a:r>
          </a:p>
        </p:txBody>
      </p:sp>
      <p:sp>
        <p:nvSpPr>
          <p:cNvPr id="10" name="Rounded Rectangle 9"/>
          <p:cNvSpPr/>
          <p:nvPr/>
        </p:nvSpPr>
        <p:spPr>
          <a:xfrm>
            <a:off x="731520" y="1417320"/>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81912"/>
            <a:ext cx="777240" cy="749808"/>
          </a:xfrm>
          <a:prstGeom prst="roundRect">
            <a:avLst/>
          </a:prstGeom>
          <a:solidFill>
            <a:srgbClr val="1C2A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38BDF8"/>
                </a:solidFill>
              </a:defRPr>
            </a:pPr>
            <a:r>
              <a:t>01</a:t>
            </a:r>
          </a:p>
        </p:txBody>
      </p:sp>
      <p:sp>
        <p:nvSpPr>
          <p:cNvPr id="12" name="TextBox 11"/>
          <p:cNvSpPr txBox="1"/>
          <p:nvPr/>
        </p:nvSpPr>
        <p:spPr>
          <a:xfrm>
            <a:off x="1920240" y="1527048"/>
            <a:ext cx="9326880" cy="868680"/>
          </a:xfrm>
          <a:prstGeom prst="rect">
            <a:avLst/>
          </a:prstGeom>
          <a:noFill/>
        </p:spPr>
        <p:txBody>
          <a:bodyPr wrap="square">
            <a:spAutoFit/>
          </a:bodyPr>
          <a:lstStyle/>
          <a:p>
            <a:pPr>
              <a:spcAft>
                <a:spcPts val="400"/>
              </a:spcAft>
              <a:defRPr sz="1200" b="1">
                <a:solidFill>
                  <a:srgbClr val="F8FAFC"/>
                </a:solidFill>
              </a:defRPr>
            </a:pPr>
            <a:r>
              <a:t>Distributed Ingestion &amp; Schema Parsing</a:t>
            </a:r>
          </a:p>
          <a:p>
            <a:pPr>
              <a:defRPr sz="950">
                <a:solidFill>
                  <a:srgbClr val="94A3B8"/>
                </a:solidFill>
              </a:defRPr>
            </a:pPr>
            <a:r>
              <a:t>Ingest 100,000 records from CSV storage using spark.read.csv() in local[*] master mode. Autonomously infer data types across all 32 clinical, demographic, and vital attributes with zero schema truncation.</a:t>
            </a:r>
          </a:p>
        </p:txBody>
      </p:sp>
      <p:sp>
        <p:nvSpPr>
          <p:cNvPr id="13" name="Rounded Rectangle 12"/>
          <p:cNvSpPr/>
          <p:nvPr/>
        </p:nvSpPr>
        <p:spPr>
          <a:xfrm>
            <a:off x="731520" y="2624328"/>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 y="2788920"/>
            <a:ext cx="777240" cy="749808"/>
          </a:xfrm>
          <a:prstGeom prst="roundRect">
            <a:avLst/>
          </a:prstGeom>
          <a:solidFill>
            <a:srgbClr val="1C2A41"/>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97316"/>
                </a:solidFill>
              </a:defRPr>
            </a:pPr>
            <a:r>
              <a:t>02</a:t>
            </a:r>
          </a:p>
        </p:txBody>
      </p:sp>
      <p:sp>
        <p:nvSpPr>
          <p:cNvPr id="15" name="TextBox 14"/>
          <p:cNvSpPr txBox="1"/>
          <p:nvPr/>
        </p:nvSpPr>
        <p:spPr>
          <a:xfrm>
            <a:off x="1920240" y="2734056"/>
            <a:ext cx="9326880" cy="868680"/>
          </a:xfrm>
          <a:prstGeom prst="rect">
            <a:avLst/>
          </a:prstGeom>
          <a:noFill/>
        </p:spPr>
        <p:txBody>
          <a:bodyPr wrap="square">
            <a:spAutoFit/>
          </a:bodyPr>
          <a:lstStyle/>
          <a:p>
            <a:pPr>
              <a:spcAft>
                <a:spcPts val="400"/>
              </a:spcAft>
              <a:defRPr sz="1200" b="1">
                <a:solidFill>
                  <a:srgbClr val="F8FAFC"/>
                </a:solidFill>
              </a:defRPr>
            </a:pPr>
            <a:r>
              <a:t>Parallel Quality Verification &amp; EDA</a:t>
            </a:r>
          </a:p>
          <a:p>
            <a:pPr>
              <a:defRPr sz="950">
                <a:solidFill>
                  <a:srgbClr val="94A3B8"/>
                </a:solidFill>
              </a:defRPr>
            </a:pPr>
            <a:r>
              <a:t>Execute parallelized Spark SQL aggregation expressions across all 32 columns simultaneously to mathematically confirm zero missing values. Profile the 4-tier class distribution and calculate biomarker means.</a:t>
            </a:r>
          </a:p>
        </p:txBody>
      </p:sp>
      <p:sp>
        <p:nvSpPr>
          <p:cNvPr id="16" name="Rounded Rectangle 15"/>
          <p:cNvSpPr/>
          <p:nvPr/>
        </p:nvSpPr>
        <p:spPr>
          <a:xfrm>
            <a:off x="731520" y="3831336"/>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 y="3995928"/>
            <a:ext cx="777240" cy="749808"/>
          </a:xfrm>
          <a:prstGeom prst="roundRect">
            <a:avLst/>
          </a:prstGeom>
          <a:solidFill>
            <a:srgbClr val="1C2A4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9E0B"/>
                </a:solidFill>
              </a:defRPr>
            </a:pPr>
            <a:r>
              <a:t>03</a:t>
            </a:r>
          </a:p>
        </p:txBody>
      </p:sp>
      <p:sp>
        <p:nvSpPr>
          <p:cNvPr id="18" name="TextBox 17"/>
          <p:cNvSpPr txBox="1"/>
          <p:nvPr/>
        </p:nvSpPr>
        <p:spPr>
          <a:xfrm>
            <a:off x="1920240" y="3941064"/>
            <a:ext cx="9326880" cy="868680"/>
          </a:xfrm>
          <a:prstGeom prst="rect">
            <a:avLst/>
          </a:prstGeom>
          <a:noFill/>
        </p:spPr>
        <p:txBody>
          <a:bodyPr wrap="square">
            <a:spAutoFit/>
          </a:bodyPr>
          <a:lstStyle/>
          <a:p>
            <a:pPr>
              <a:spcAft>
                <a:spcPts val="400"/>
              </a:spcAft>
              <a:defRPr sz="1200" b="1">
                <a:solidFill>
                  <a:srgbClr val="F8FAFC"/>
                </a:solidFill>
              </a:defRPr>
            </a:pPr>
            <a:r>
              <a:t>Leakage Elimination &amp; MLlib Pipeline</a:t>
            </a:r>
          </a:p>
          <a:p>
            <a:pPr>
              <a:defRPr sz="950">
                <a:solidFill>
                  <a:srgbClr val="94A3B8"/>
                </a:solidFill>
              </a:defRPr>
            </a:pPr>
            <a:r>
              <a:t>Proactively strip non-predictive identifiers (person_id) and retrospective next-day outcomes (felt_rested, cognitive_score) to prevent target leakage. Construct an integrated StringIndexer + OneHotEncoder + VectorAssembler pipeline.</a:t>
            </a:r>
          </a:p>
        </p:txBody>
      </p:sp>
      <p:sp>
        <p:nvSpPr>
          <p:cNvPr id="19" name="Rounded Rectangle 18"/>
          <p:cNvSpPr/>
          <p:nvPr/>
        </p:nvSpPr>
        <p:spPr>
          <a:xfrm>
            <a:off x="731520" y="5038344"/>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0120" y="5202936"/>
            <a:ext cx="777240" cy="749808"/>
          </a:xfrm>
          <a:prstGeom prst="roundRect">
            <a:avLst/>
          </a:prstGeom>
          <a:solidFill>
            <a:srgbClr val="1C2A4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0B981"/>
                </a:solidFill>
              </a:defRPr>
            </a:pPr>
            <a:r>
              <a:t>04</a:t>
            </a:r>
          </a:p>
        </p:txBody>
      </p:sp>
      <p:sp>
        <p:nvSpPr>
          <p:cNvPr id="21" name="TextBox 20"/>
          <p:cNvSpPr txBox="1"/>
          <p:nvPr/>
        </p:nvSpPr>
        <p:spPr>
          <a:xfrm>
            <a:off x="1920240" y="5148072"/>
            <a:ext cx="9326880" cy="868680"/>
          </a:xfrm>
          <a:prstGeom prst="rect">
            <a:avLst/>
          </a:prstGeom>
          <a:noFill/>
        </p:spPr>
        <p:txBody>
          <a:bodyPr wrap="square">
            <a:spAutoFit/>
          </a:bodyPr>
          <a:lstStyle/>
          <a:p>
            <a:pPr>
              <a:spcAft>
                <a:spcPts val="400"/>
              </a:spcAft>
              <a:defRPr sz="1200" b="1">
                <a:solidFill>
                  <a:srgbClr val="F8FAFC"/>
                </a:solidFill>
              </a:defRPr>
            </a:pPr>
            <a:r>
              <a:t>Ensemble Training, Caching &amp; Evaluation</a:t>
            </a:r>
          </a:p>
          <a:p>
            <a:pPr>
              <a:defRPr sz="950">
                <a:solidFill>
                  <a:srgbClr val="94A3B8"/>
                </a:solidFill>
              </a:defRPr>
            </a:pPr>
            <a:r>
              <a:t>Train a distributed RandomForestClassifier (50 trees, maxDepth 8) on an 80% split (80,000 records). Cache test prediction DataFrames in executor RAM to prevent re-computation and measure multiclass Accuracy, F1, Precision, and Recall.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DATASET SPECIFICATION &amp; CLINICAL ATTRIBUTES</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100,000-Patient Cohort &amp; Feature Dimension Taxonomy</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04 / 13</a:t>
            </a:r>
          </a:p>
        </p:txBody>
      </p:sp>
      <p:sp>
        <p:nvSpPr>
          <p:cNvPr id="10" name="Rounded Rectangle 9"/>
          <p:cNvSpPr/>
          <p:nvPr/>
        </p:nvSpPr>
        <p:spPr>
          <a:xfrm>
            <a:off x="731520" y="1417320"/>
            <a:ext cx="2542032" cy="7315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2286000" cy="640080"/>
          </a:xfrm>
          <a:prstGeom prst="rect">
            <a:avLst/>
          </a:prstGeom>
          <a:noFill/>
        </p:spPr>
        <p:txBody>
          <a:bodyPr wrap="none">
            <a:spAutoFit/>
          </a:bodyPr>
          <a:lstStyle/>
          <a:p>
            <a:pPr>
              <a:defRPr sz="1600" b="1">
                <a:solidFill>
                  <a:srgbClr val="38BDF8"/>
                </a:solidFill>
              </a:defRPr>
            </a:pPr>
            <a:r>
              <a:t>100,000</a:t>
            </a:r>
          </a:p>
          <a:p>
            <a:pPr>
              <a:defRPr sz="850">
                <a:solidFill>
                  <a:srgbClr val="94A3B8"/>
                </a:solidFill>
              </a:defRPr>
            </a:pPr>
            <a:r>
              <a:t>Total Patient Records</a:t>
            </a:r>
          </a:p>
        </p:txBody>
      </p:sp>
      <p:sp>
        <p:nvSpPr>
          <p:cNvPr id="12" name="Rounded Rectangle 11"/>
          <p:cNvSpPr/>
          <p:nvPr/>
        </p:nvSpPr>
        <p:spPr>
          <a:xfrm>
            <a:off x="3456432" y="1417320"/>
            <a:ext cx="2542032" cy="7315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463040"/>
            <a:ext cx="2286000" cy="640080"/>
          </a:xfrm>
          <a:prstGeom prst="rect">
            <a:avLst/>
          </a:prstGeom>
          <a:noFill/>
        </p:spPr>
        <p:txBody>
          <a:bodyPr wrap="none">
            <a:spAutoFit/>
          </a:bodyPr>
          <a:lstStyle/>
          <a:p>
            <a:pPr>
              <a:defRPr sz="1600" b="1">
                <a:solidFill>
                  <a:srgbClr val="F97316"/>
                </a:solidFill>
              </a:defRPr>
            </a:pPr>
            <a:r>
              <a:t>32</a:t>
            </a:r>
          </a:p>
          <a:p>
            <a:pPr>
              <a:defRPr sz="850">
                <a:solidFill>
                  <a:srgbClr val="94A3B8"/>
                </a:solidFill>
              </a:defRPr>
            </a:pPr>
            <a:r>
              <a:t>Clinical Attributes</a:t>
            </a:r>
          </a:p>
        </p:txBody>
      </p:sp>
      <p:sp>
        <p:nvSpPr>
          <p:cNvPr id="14" name="Rounded Rectangle 13"/>
          <p:cNvSpPr/>
          <p:nvPr/>
        </p:nvSpPr>
        <p:spPr>
          <a:xfrm>
            <a:off x="6181344" y="1417320"/>
            <a:ext cx="2542032" cy="7315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1463040"/>
            <a:ext cx="2286000" cy="640080"/>
          </a:xfrm>
          <a:prstGeom prst="rect">
            <a:avLst/>
          </a:prstGeom>
          <a:noFill/>
        </p:spPr>
        <p:txBody>
          <a:bodyPr wrap="none">
            <a:spAutoFit/>
          </a:bodyPr>
          <a:lstStyle/>
          <a:p>
            <a:pPr>
              <a:defRPr sz="1600" b="1">
                <a:solidFill>
                  <a:srgbClr val="F59E0B"/>
                </a:solidFill>
              </a:defRPr>
            </a:pPr>
            <a:r>
              <a:t>14.87 MB</a:t>
            </a:r>
          </a:p>
          <a:p>
            <a:pPr>
              <a:defRPr sz="850">
                <a:solidFill>
                  <a:srgbClr val="94A3B8"/>
                </a:solidFill>
              </a:defRPr>
            </a:pPr>
            <a:r>
              <a:t>Uncompressed CSV Size</a:t>
            </a:r>
          </a:p>
        </p:txBody>
      </p:sp>
      <p:sp>
        <p:nvSpPr>
          <p:cNvPr id="16" name="Rounded Rectangle 15"/>
          <p:cNvSpPr/>
          <p:nvPr/>
        </p:nvSpPr>
        <p:spPr>
          <a:xfrm>
            <a:off x="8906256" y="1417320"/>
            <a:ext cx="2542032" cy="7315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3416" y="1463040"/>
            <a:ext cx="2286000" cy="640080"/>
          </a:xfrm>
          <a:prstGeom prst="rect">
            <a:avLst/>
          </a:prstGeom>
          <a:noFill/>
        </p:spPr>
        <p:txBody>
          <a:bodyPr wrap="none">
            <a:spAutoFit/>
          </a:bodyPr>
          <a:lstStyle/>
          <a:p>
            <a:pPr>
              <a:defRPr sz="1600" b="1">
                <a:solidFill>
                  <a:srgbClr val="10B981"/>
                </a:solidFill>
              </a:defRPr>
            </a:pPr>
            <a:r>
              <a:t>CDC NHIS</a:t>
            </a:r>
          </a:p>
          <a:p>
            <a:pPr>
              <a:defRPr sz="850">
                <a:solidFill>
                  <a:srgbClr val="94A3B8"/>
                </a:solidFill>
              </a:defRPr>
            </a:pPr>
            <a:r>
              <a:t>Survey-Calibrated Reference</a:t>
            </a:r>
          </a:p>
        </p:txBody>
      </p:sp>
      <p:sp>
        <p:nvSpPr>
          <p:cNvPr id="18" name="Rounded Rectangle 17"/>
          <p:cNvSpPr/>
          <p:nvPr/>
        </p:nvSpPr>
        <p:spPr>
          <a:xfrm>
            <a:off x="731520" y="2286000"/>
            <a:ext cx="6217920" cy="3977639"/>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423160"/>
            <a:ext cx="5852160" cy="3657600"/>
          </a:xfrm>
          <a:prstGeom prst="rect">
            <a:avLst/>
          </a:prstGeom>
          <a:noFill/>
        </p:spPr>
        <p:txBody>
          <a:bodyPr wrap="square">
            <a:spAutoFit/>
          </a:bodyPr>
          <a:lstStyle/>
          <a:p>
            <a:pPr>
              <a:spcAft>
                <a:spcPts val="1000"/>
              </a:spcAft>
              <a:defRPr sz="1100" b="1">
                <a:solidFill>
                  <a:srgbClr val="38BDF8"/>
                </a:solidFill>
              </a:defRPr>
            </a:pPr>
            <a:r>
              <a:t>FEATURE DOMAINS &amp; CLINICAL ATTRIBUTES</a:t>
            </a:r>
          </a:p>
          <a:p>
            <a:pPr>
              <a:spcAft>
                <a:spcPts val="400"/>
              </a:spcAft>
            </a:pPr>
            <a:r>
              <a:rPr b="1" sz="950">
                <a:solidFill>
                  <a:srgbClr val="F8FAFC"/>
                </a:solidFill>
              </a:rPr>
              <a:t>•  Demographics (5): </a:t>
            </a:r>
            <a:r>
              <a:rPr sz="850">
                <a:solidFill>
                  <a:srgbClr val="94A3B8"/>
                </a:solidFill>
              </a:rPr>
              <a:t>person_id, age (18-65), gender, country, occupation (12 distinct categories: Nurses, Doctors, Engineers, Lawyers, etc.)</a:t>
            </a:r>
          </a:p>
          <a:p>
            <a:pPr>
              <a:spcAft>
                <a:spcPts val="400"/>
              </a:spcAft>
            </a:pPr>
            <a:r>
              <a:rPr b="1" sz="950">
                <a:solidFill>
                  <a:srgbClr val="F8FAFC"/>
                </a:solidFill>
              </a:rPr>
              <a:t>•  Sleep Architecture (6): </a:t>
            </a:r>
            <a:r>
              <a:rPr sz="850">
                <a:solidFill>
                  <a:srgbClr val="94A3B8"/>
                </a:solidFill>
              </a:rPr>
              <a:t>sleep_duration_hrs, sleep_quality_score (1-10), rem_percentage, deep_sleep_percentage, sleep_latency_mins, wake_episodes_per_night</a:t>
            </a:r>
          </a:p>
          <a:p>
            <a:pPr>
              <a:spcAft>
                <a:spcPts val="400"/>
              </a:spcAft>
            </a:pPr>
            <a:r>
              <a:rPr b="1" sz="950">
                <a:solidFill>
                  <a:srgbClr val="F8FAFC"/>
                </a:solidFill>
              </a:rPr>
              <a:t>•  Autonomic &amp; Vitals (5): </a:t>
            </a:r>
            <a:r>
              <a:rPr sz="850">
                <a:solidFill>
                  <a:srgbClr val="94A3B8"/>
                </a:solidFill>
              </a:rPr>
              <a:t>stress_score (1-10), heart_rate_resting_bpm, systolic_bp, diastolic_bp, room_temperature_celsius</a:t>
            </a:r>
          </a:p>
          <a:p>
            <a:pPr>
              <a:spcAft>
                <a:spcPts val="400"/>
              </a:spcAft>
            </a:pPr>
            <a:r>
              <a:rPr b="1" sz="950">
                <a:solidFill>
                  <a:srgbClr val="F8FAFC"/>
                </a:solidFill>
              </a:rPr>
              <a:t>•  Lifestyle &amp; Habits (8): </a:t>
            </a:r>
            <a:r>
              <a:rPr sz="850">
                <a:solidFill>
                  <a:srgbClr val="94A3B8"/>
                </a:solidFill>
              </a:rPr>
              <a:t>caffeine_mg_before_bed, alcohol_units, screen_time_mins, exercise_day, steps_that_day, nap_duration_mins, work_hours, shift_work</a:t>
            </a:r>
          </a:p>
          <a:p>
            <a:pPr>
              <a:spcAft>
                <a:spcPts val="400"/>
              </a:spcAft>
            </a:pPr>
            <a:r>
              <a:rPr b="1" sz="950">
                <a:solidFill>
                  <a:srgbClr val="F8FAFC"/>
                </a:solidFill>
              </a:rPr>
              <a:t>•  Circadian Dynamics (4): </a:t>
            </a:r>
            <a:r>
              <a:rPr sz="850">
                <a:solidFill>
                  <a:srgbClr val="94A3B8"/>
                </a:solidFill>
              </a:rPr>
              <a:t>chronotype (Morning/Evening), season, day_type (Weekday/Weekend), weekend_sleep_diff_hrs (social jetlag)</a:t>
            </a:r>
          </a:p>
          <a:p>
            <a:pPr>
              <a:spcAft>
                <a:spcPts val="400"/>
              </a:spcAft>
            </a:pPr>
            <a:r>
              <a:rPr b="1" sz="950">
                <a:solidFill>
                  <a:srgbClr val="F8FAFC"/>
                </a:solidFill>
              </a:rPr>
              <a:t>•  Excluded Leakage (3): </a:t>
            </a:r>
            <a:r>
              <a:rPr sz="850">
                <a:solidFill>
                  <a:srgbClr val="94A3B8"/>
                </a:solidFill>
              </a:rPr>
              <a:t>person_id (non-predictive ID), felt_rested, cognitive_performance_score (retrospective recovery indicators dropped to preserve prospective validity)</a:t>
            </a:r>
          </a:p>
        </p:txBody>
      </p:sp>
      <p:sp>
        <p:nvSpPr>
          <p:cNvPr id="20" name="Rounded Rectangle 19"/>
          <p:cNvSpPr/>
          <p:nvPr/>
        </p:nvSpPr>
        <p:spPr>
          <a:xfrm>
            <a:off x="7132320" y="2286000"/>
            <a:ext cx="4327855" cy="3977639"/>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423160"/>
            <a:ext cx="3962095" cy="3657600"/>
          </a:xfrm>
          <a:prstGeom prst="rect">
            <a:avLst/>
          </a:prstGeom>
          <a:noFill/>
        </p:spPr>
        <p:txBody>
          <a:bodyPr wrap="square">
            <a:spAutoFit/>
          </a:bodyPr>
          <a:lstStyle/>
          <a:p>
            <a:pPr>
              <a:spcAft>
                <a:spcPts val="1000"/>
              </a:spcAft>
              <a:defRPr sz="1100" b="1">
                <a:solidFill>
                  <a:srgbClr val="F97316"/>
                </a:solidFill>
              </a:defRPr>
            </a:pPr>
            <a:r>
              <a:t>TARGET DISTRIBUTION: sleep_disorder_risk</a:t>
            </a:r>
          </a:p>
          <a:p>
            <a:pPr>
              <a:spcAft>
                <a:spcPts val="1000"/>
              </a:spcAft>
              <a:defRPr sz="900">
                <a:solidFill>
                  <a:srgbClr val="94A3B8"/>
                </a:solidFill>
              </a:defRPr>
            </a:pPr>
            <a:r>
              <a:t>4-tier clinical risk stratification across 100,000 patients:</a:t>
            </a:r>
          </a:p>
          <a:p>
            <a:pPr>
              <a:spcAft>
                <a:spcPts val="600"/>
              </a:spcAft>
            </a:pPr>
            <a:r>
              <a:rPr b="1" sz="1100">
                <a:solidFill>
                  <a:srgbClr val="F8FAFC"/>
                </a:solidFill>
              </a:rPr>
              <a:t>Healthy     </a:t>
            </a:r>
            <a:r>
              <a:rPr b="1" sz="1100">
                <a:solidFill>
                  <a:srgbClr val="10B981"/>
                </a:solidFill>
              </a:rPr>
              <a:t>(54.16%)  </a:t>
            </a:r>
            <a:r>
              <a:rPr sz="900">
                <a:solidFill>
                  <a:srgbClr val="94A3B8"/>
                </a:solidFill>
              </a:rPr>
              <a:t>54,156 records</a:t>
            </a:r>
          </a:p>
          <a:p>
            <a:pPr>
              <a:spcAft>
                <a:spcPts val="600"/>
              </a:spcAft>
            </a:pPr>
            <a:r>
              <a:rPr b="1" sz="1100">
                <a:solidFill>
                  <a:srgbClr val="F8FAFC"/>
                </a:solidFill>
              </a:rPr>
              <a:t>Mild        </a:t>
            </a:r>
            <a:r>
              <a:rPr b="1" sz="1100">
                <a:solidFill>
                  <a:srgbClr val="38BDF8"/>
                </a:solidFill>
              </a:rPr>
              <a:t>(33.48%)  </a:t>
            </a:r>
            <a:r>
              <a:rPr sz="900">
                <a:solidFill>
                  <a:srgbClr val="94A3B8"/>
                </a:solidFill>
              </a:rPr>
              <a:t>33,479 records</a:t>
            </a:r>
          </a:p>
          <a:p>
            <a:pPr>
              <a:spcAft>
                <a:spcPts val="600"/>
              </a:spcAft>
            </a:pPr>
            <a:r>
              <a:rPr b="1" sz="1100">
                <a:solidFill>
                  <a:srgbClr val="F8FAFC"/>
                </a:solidFill>
              </a:rPr>
              <a:t>Moderate    </a:t>
            </a:r>
            <a:r>
              <a:rPr b="1" sz="1100">
                <a:solidFill>
                  <a:srgbClr val="F59E0B"/>
                </a:solidFill>
              </a:rPr>
              <a:t>(8.30%)  </a:t>
            </a:r>
            <a:r>
              <a:rPr sz="900">
                <a:solidFill>
                  <a:srgbClr val="94A3B8"/>
                </a:solidFill>
              </a:rPr>
              <a:t>8,299 records</a:t>
            </a:r>
          </a:p>
          <a:p>
            <a:pPr>
              <a:spcAft>
                <a:spcPts val="600"/>
              </a:spcAft>
            </a:pPr>
            <a:r>
              <a:rPr b="1" sz="1100">
                <a:solidFill>
                  <a:srgbClr val="F8FAFC"/>
                </a:solidFill>
              </a:rPr>
              <a:t>Severe      </a:t>
            </a:r>
            <a:r>
              <a:rPr b="1" sz="1100">
                <a:solidFill>
                  <a:srgbClr val="F97316"/>
                </a:solidFill>
              </a:rPr>
              <a:t>(4.07%)  </a:t>
            </a:r>
            <a:r>
              <a:rPr sz="900">
                <a:solidFill>
                  <a:srgbClr val="94A3B8"/>
                </a:solidFill>
              </a:rPr>
              <a:t>4,066 records</a:t>
            </a:r>
          </a:p>
          <a:p>
            <a:pPr>
              <a:spcBef>
                <a:spcPts val="1200"/>
              </a:spcBef>
            </a:pPr>
            <a:r>
              <a:rPr b="1" sz="950">
                <a:solidFill>
                  <a:srgbClr val="F59E0B"/>
                </a:solidFill>
              </a:rPr>
              <a:t>CRITICAL IMBALANCE NOTE:
</a:t>
            </a:r>
            <a:r>
              <a:rPr sz="850">
                <a:solidFill>
                  <a:srgbClr val="94A3B8"/>
                </a:solidFill>
              </a:rPr>
              <a:t>Healthy + Mild account for 87.64% of the cohort. A naive classifier predicting Healthy every time yields 54.16% accuracy. Our distributed model must demonstrate true multiclass discriminative power.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DISTRIBUTED SYSTEMS ARCHITECTURE</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End-to-End Distributed Cluster Computing ML Workflow</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05 / 13</a:t>
            </a:r>
          </a:p>
        </p:txBody>
      </p:sp>
      <p:sp>
        <p:nvSpPr>
          <p:cNvPr id="10" name="Rounded Rectangle 9"/>
          <p:cNvSpPr/>
          <p:nvPr/>
        </p:nvSpPr>
        <p:spPr>
          <a:xfrm>
            <a:off x="731520" y="1417320"/>
            <a:ext cx="2029968" cy="3108960"/>
          </a:xfrm>
          <a:prstGeom prst="roundRect">
            <a:avLst/>
          </a:prstGeom>
          <a:solidFill>
            <a:srgbClr val="141E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112" y="1572768"/>
            <a:ext cx="1700784" cy="292608"/>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STAGE 1</a:t>
            </a:r>
          </a:p>
        </p:txBody>
      </p:sp>
      <p:sp>
        <p:nvSpPr>
          <p:cNvPr id="12" name="TextBox 11"/>
          <p:cNvSpPr txBox="1"/>
          <p:nvPr/>
        </p:nvSpPr>
        <p:spPr>
          <a:xfrm>
            <a:off x="841248" y="1965960"/>
            <a:ext cx="1810512" cy="2423160"/>
          </a:xfrm>
          <a:prstGeom prst="rect">
            <a:avLst/>
          </a:prstGeom>
          <a:noFill/>
        </p:spPr>
        <p:txBody>
          <a:bodyPr wrap="square">
            <a:spAutoFit/>
          </a:bodyPr>
          <a:lstStyle/>
          <a:p>
            <a:pPr>
              <a:spcAft>
                <a:spcPts val="600"/>
              </a:spcAft>
              <a:defRPr sz="1100" b="1">
                <a:solidFill>
                  <a:srgbClr val="F8FAFC"/>
                </a:solidFill>
              </a:defRPr>
            </a:pPr>
            <a:r>
              <a:t>Distributed Ingestion</a:t>
            </a:r>
          </a:p>
          <a:p>
            <a:pPr>
              <a:defRPr sz="850">
                <a:solidFill>
                  <a:srgbClr val="94A3B8"/>
                </a:solidFill>
              </a:defRPr>
            </a:pPr>
            <a:r>
              <a:t>• spark.read.csv()</a:t>
            </a:r>
            <a:br/>
            <a:r>
              <a:t>• Header=True, InferSchema</a:t>
            </a:r>
            <a:br/>
            <a:r>
              <a:t>• 100,000 rows × 32 cols</a:t>
            </a:r>
            <a:br/>
            <a:r>
              <a:t>• Lazy partition loading</a:t>
            </a:r>
            <a:br/>
            <a:r>
              <a:t>• Suppress JVM ERROR logs</a:t>
            </a:r>
            <a:br/>
            <a:r>
              <a:t>• Driver memory allocation</a:t>
            </a:r>
          </a:p>
        </p:txBody>
      </p:sp>
      <p:sp>
        <p:nvSpPr>
          <p:cNvPr id="13" name="Rounded Rectangle 12"/>
          <p:cNvSpPr/>
          <p:nvPr/>
        </p:nvSpPr>
        <p:spPr>
          <a:xfrm>
            <a:off x="2916936" y="1417320"/>
            <a:ext cx="2029968" cy="3108960"/>
          </a:xfrm>
          <a:prstGeom prst="roundRect">
            <a:avLst/>
          </a:prstGeom>
          <a:solidFill>
            <a:srgbClr val="141E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81528" y="1572768"/>
            <a:ext cx="1700784" cy="292608"/>
          </a:xfrm>
          <a:prstGeom prst="roundRect">
            <a:avLst/>
          </a:prstGeom>
          <a:solidFill>
            <a:srgbClr val="1C2A41"/>
          </a:solidFill>
          <a:ln w="127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97316"/>
                </a:solidFill>
              </a:defRPr>
            </a:pPr>
            <a:r>
              <a:t>STAGE 2</a:t>
            </a:r>
          </a:p>
        </p:txBody>
      </p:sp>
      <p:sp>
        <p:nvSpPr>
          <p:cNvPr id="15" name="TextBox 14"/>
          <p:cNvSpPr txBox="1"/>
          <p:nvPr/>
        </p:nvSpPr>
        <p:spPr>
          <a:xfrm>
            <a:off x="3026664" y="1965960"/>
            <a:ext cx="1810512" cy="2423160"/>
          </a:xfrm>
          <a:prstGeom prst="rect">
            <a:avLst/>
          </a:prstGeom>
          <a:noFill/>
        </p:spPr>
        <p:txBody>
          <a:bodyPr wrap="square">
            <a:spAutoFit/>
          </a:bodyPr>
          <a:lstStyle/>
          <a:p>
            <a:pPr>
              <a:spcAft>
                <a:spcPts val="600"/>
              </a:spcAft>
              <a:defRPr sz="1100" b="1">
                <a:solidFill>
                  <a:srgbClr val="F8FAFC"/>
                </a:solidFill>
              </a:defRPr>
            </a:pPr>
            <a:r>
              <a:t>Parallel Quality Audit</a:t>
            </a:r>
          </a:p>
          <a:p>
            <a:pPr>
              <a:defRPr sz="850">
                <a:solidFill>
                  <a:srgbClr val="94A3B8"/>
                </a:solidFill>
              </a:defRPr>
            </a:pPr>
            <a:r>
              <a:t>• Spark SQL aggregation</a:t>
            </a:r>
            <a:br/>
            <a:r>
              <a:t>• F.sum(F.when(isNull...))</a:t>
            </a:r>
            <a:br/>
            <a:r>
              <a:t>• Simultaneous across 32 cols</a:t>
            </a:r>
            <a:br/>
            <a:r>
              <a:t>• Confirms 0 missing values</a:t>
            </a:r>
            <a:br/>
            <a:r>
              <a:t>• GroupBy class frequency</a:t>
            </a:r>
            <a:br/>
            <a:r>
              <a:t>• Zero data loss guarantee</a:t>
            </a:r>
          </a:p>
        </p:txBody>
      </p:sp>
      <p:sp>
        <p:nvSpPr>
          <p:cNvPr id="16" name="Rounded Rectangle 15"/>
          <p:cNvSpPr/>
          <p:nvPr/>
        </p:nvSpPr>
        <p:spPr>
          <a:xfrm>
            <a:off x="5102352" y="1417320"/>
            <a:ext cx="2029968" cy="3108960"/>
          </a:xfrm>
          <a:prstGeom prst="roundRect">
            <a:avLst/>
          </a:prstGeom>
          <a:solidFill>
            <a:srgbClr val="141E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66944" y="1572768"/>
            <a:ext cx="1700784" cy="292608"/>
          </a:xfrm>
          <a:prstGeom prst="roundRect">
            <a:avLst/>
          </a:prstGeom>
          <a:solidFill>
            <a:srgbClr val="1C2A41"/>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59E0B"/>
                </a:solidFill>
              </a:defRPr>
            </a:pPr>
            <a:r>
              <a:t>STAGE 3</a:t>
            </a:r>
          </a:p>
        </p:txBody>
      </p:sp>
      <p:sp>
        <p:nvSpPr>
          <p:cNvPr id="18" name="TextBox 17"/>
          <p:cNvSpPr txBox="1"/>
          <p:nvPr/>
        </p:nvSpPr>
        <p:spPr>
          <a:xfrm>
            <a:off x="5212080" y="1965960"/>
            <a:ext cx="1810512" cy="2423160"/>
          </a:xfrm>
          <a:prstGeom prst="rect">
            <a:avLst/>
          </a:prstGeom>
          <a:noFill/>
        </p:spPr>
        <p:txBody>
          <a:bodyPr wrap="square">
            <a:spAutoFit/>
          </a:bodyPr>
          <a:lstStyle/>
          <a:p>
            <a:pPr>
              <a:spcAft>
                <a:spcPts val="600"/>
              </a:spcAft>
              <a:defRPr sz="1100" b="1">
                <a:solidFill>
                  <a:srgbClr val="F8FAFC"/>
                </a:solidFill>
              </a:defRPr>
            </a:pPr>
            <a:r>
              <a:t>Leakage Sanitization</a:t>
            </a:r>
          </a:p>
          <a:p>
            <a:pPr>
              <a:defRPr sz="850">
                <a:solidFill>
                  <a:srgbClr val="94A3B8"/>
                </a:solidFill>
              </a:defRPr>
            </a:pPr>
            <a:r>
              <a:t>• Drop person_id (ID)</a:t>
            </a:r>
            <a:br/>
            <a:r>
              <a:t>• Drop felt_rested (post)</a:t>
            </a:r>
            <a:br/>
            <a:r>
              <a:t>• Drop cognitive_score</a:t>
            </a:r>
            <a:br/>
            <a:r>
              <a:t>• Prospective clinical triage</a:t>
            </a:r>
            <a:br/>
            <a:r>
              <a:t>• 80% Train (80k rows)</a:t>
            </a:r>
            <a:br/>
            <a:r>
              <a:t>• 20% Test (20k rows, seed=42)</a:t>
            </a:r>
          </a:p>
        </p:txBody>
      </p:sp>
      <p:sp>
        <p:nvSpPr>
          <p:cNvPr id="19" name="Rounded Rectangle 18"/>
          <p:cNvSpPr/>
          <p:nvPr/>
        </p:nvSpPr>
        <p:spPr>
          <a:xfrm>
            <a:off x="7287768" y="1417320"/>
            <a:ext cx="2029968" cy="3108960"/>
          </a:xfrm>
          <a:prstGeom prst="roundRect">
            <a:avLst/>
          </a:prstGeom>
          <a:solidFill>
            <a:srgbClr val="141E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52360" y="1572768"/>
            <a:ext cx="1700784" cy="292608"/>
          </a:xfrm>
          <a:prstGeom prst="roundRect">
            <a:avLst/>
          </a:prstGeom>
          <a:solidFill>
            <a:srgbClr val="1C2A4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0B981"/>
                </a:solidFill>
              </a:defRPr>
            </a:pPr>
            <a:r>
              <a:t>STAGE 4</a:t>
            </a:r>
          </a:p>
        </p:txBody>
      </p:sp>
      <p:sp>
        <p:nvSpPr>
          <p:cNvPr id="21" name="TextBox 20"/>
          <p:cNvSpPr txBox="1"/>
          <p:nvPr/>
        </p:nvSpPr>
        <p:spPr>
          <a:xfrm>
            <a:off x="7397496" y="1965960"/>
            <a:ext cx="1810512" cy="2423160"/>
          </a:xfrm>
          <a:prstGeom prst="rect">
            <a:avLst/>
          </a:prstGeom>
          <a:noFill/>
        </p:spPr>
        <p:txBody>
          <a:bodyPr wrap="square">
            <a:spAutoFit/>
          </a:bodyPr>
          <a:lstStyle/>
          <a:p>
            <a:pPr>
              <a:spcAft>
                <a:spcPts val="600"/>
              </a:spcAft>
              <a:defRPr sz="1100" b="1">
                <a:solidFill>
                  <a:srgbClr val="F8FAFC"/>
                </a:solidFill>
              </a:defRPr>
            </a:pPr>
            <a:r>
              <a:t>Spark MLlib Pipeline</a:t>
            </a:r>
          </a:p>
          <a:p>
            <a:pPr>
              <a:defRPr sz="850">
                <a:solidFill>
                  <a:srgbClr val="94A3B8"/>
                </a:solidFill>
              </a:defRPr>
            </a:pPr>
            <a:r>
              <a:t>• StringIndexer (3 categoricals)</a:t>
            </a:r>
            <a:br/>
            <a:r>
              <a:t>• OneHotEncoder (sparse vects)</a:t>
            </a:r>
            <a:br/>
            <a:r>
              <a:t>• VectorAssembler (28 feats)</a:t>
            </a:r>
            <a:br/>
            <a:r>
              <a:t>• Target label StringIndexer</a:t>
            </a:r>
            <a:br/>
            <a:r>
              <a:t>• RandomForest (50 trees, d=8)</a:t>
            </a:r>
            <a:br/>
            <a:r>
              <a:t>• Atomic pipeline fitting</a:t>
            </a:r>
          </a:p>
        </p:txBody>
      </p:sp>
      <p:sp>
        <p:nvSpPr>
          <p:cNvPr id="22" name="Rounded Rectangle 21"/>
          <p:cNvSpPr/>
          <p:nvPr/>
        </p:nvSpPr>
        <p:spPr>
          <a:xfrm>
            <a:off x="9473184" y="1417320"/>
            <a:ext cx="2029968" cy="3108960"/>
          </a:xfrm>
          <a:prstGeom prst="roundRect">
            <a:avLst/>
          </a:prstGeom>
          <a:solidFill>
            <a:srgbClr val="141E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37776" y="1572768"/>
            <a:ext cx="1700784" cy="292608"/>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STAGE 5</a:t>
            </a:r>
          </a:p>
        </p:txBody>
      </p:sp>
      <p:sp>
        <p:nvSpPr>
          <p:cNvPr id="24" name="TextBox 23"/>
          <p:cNvSpPr txBox="1"/>
          <p:nvPr/>
        </p:nvSpPr>
        <p:spPr>
          <a:xfrm>
            <a:off x="9582912" y="1965960"/>
            <a:ext cx="1810512" cy="2423160"/>
          </a:xfrm>
          <a:prstGeom prst="rect">
            <a:avLst/>
          </a:prstGeom>
          <a:noFill/>
        </p:spPr>
        <p:txBody>
          <a:bodyPr wrap="square">
            <a:spAutoFit/>
          </a:bodyPr>
          <a:lstStyle/>
          <a:p>
            <a:pPr>
              <a:spcAft>
                <a:spcPts val="600"/>
              </a:spcAft>
              <a:defRPr sz="1100" b="1">
                <a:solidFill>
                  <a:srgbClr val="F8FAFC"/>
                </a:solidFill>
              </a:defRPr>
            </a:pPr>
            <a:r>
              <a:t>Cached Evaluation</a:t>
            </a:r>
          </a:p>
          <a:p>
            <a:pPr>
              <a:defRPr sz="850">
                <a:solidFill>
                  <a:srgbClr val="94A3B8"/>
                </a:solidFill>
              </a:defRPr>
            </a:pPr>
            <a:r>
              <a:t>• predictions.cache()</a:t>
            </a:r>
            <a:br/>
            <a:r>
              <a:t>• Persist in executor RAM</a:t>
            </a:r>
            <a:br/>
            <a:r>
              <a:t>• MulticlassEvaluator</a:t>
            </a:r>
            <a:br/>
            <a:r>
              <a:t>• Accuracy: 82.43%</a:t>
            </a:r>
            <a:br/>
            <a:r>
              <a:t>• Weighted F1: 81.32%</a:t>
            </a:r>
            <a:br/>
            <a:r>
              <a:t>• Zero redundant DAG passes</a:t>
            </a:r>
          </a:p>
        </p:txBody>
      </p:sp>
      <p:sp>
        <p:nvSpPr>
          <p:cNvPr id="25" name="Rounded Rectangle 24"/>
          <p:cNvSpPr/>
          <p:nvPr/>
        </p:nvSpPr>
        <p:spPr>
          <a:xfrm>
            <a:off x="731520" y="4709160"/>
            <a:ext cx="10728655" cy="1554480"/>
          </a:xfrm>
          <a:prstGeom prst="roundRect">
            <a:avLst/>
          </a:prstGeom>
          <a:solidFill>
            <a:srgbClr val="1C2A41"/>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800600"/>
            <a:ext cx="10362895" cy="1371600"/>
          </a:xfrm>
          <a:prstGeom prst="rect">
            <a:avLst/>
          </a:prstGeom>
          <a:noFill/>
        </p:spPr>
        <p:txBody>
          <a:bodyPr wrap="square">
            <a:spAutoFit/>
          </a:bodyPr>
          <a:lstStyle/>
          <a:p>
            <a:pPr>
              <a:spcAft>
                <a:spcPts val="600"/>
              </a:spcAft>
              <a:defRPr sz="1100" b="1">
                <a:solidFill>
                  <a:srgbClr val="38BDF8"/>
                </a:solidFill>
              </a:defRPr>
            </a:pPr>
            <a:r>
              <a:t>CORE DISTRIBUTED CLUSTER COMPUTING ENGINE PRINCIPLES</a:t>
            </a:r>
          </a:p>
          <a:p>
            <a:pPr>
              <a:spcAft>
                <a:spcPts val="300"/>
              </a:spcAft>
            </a:pPr>
            <a:r>
              <a:rPr b="1" sz="950">
                <a:solidFill>
                  <a:srgbClr val="F8FAFC"/>
                </a:solidFill>
              </a:rPr>
              <a:t>•  Catalyst Query Optimization: </a:t>
            </a:r>
            <a:r>
              <a:rPr sz="850">
                <a:solidFill>
                  <a:srgbClr val="94A3B8"/>
                </a:solidFill>
              </a:rPr>
              <a:t>Spark builds an abstract syntax tree and defers physical memory operations until terminal actions (count, show). Catalyst performs predicate pushdown and columnar projection optimization.</a:t>
            </a:r>
          </a:p>
          <a:p>
            <a:pPr>
              <a:spcAft>
                <a:spcPts val="300"/>
              </a:spcAft>
            </a:pPr>
            <a:r>
              <a:rPr b="1" sz="950">
                <a:solidFill>
                  <a:srgbClr val="F8FAFC"/>
                </a:solidFill>
              </a:rPr>
              <a:t>•  Multi-Threaded Partitioning (`local[*]`): </a:t>
            </a:r>
            <a:r>
              <a:rPr sz="850">
                <a:solidFill>
                  <a:srgbClr val="94A3B8"/>
                </a:solidFill>
              </a:rPr>
              <a:t>Spark binds driver and executor tasks across all virtual CPU cores on the host VM, processing DataFrame partitions in parallel worker threads without single-core bottlenecks.</a:t>
            </a:r>
          </a:p>
          <a:p>
            <a:pPr>
              <a:spcAft>
                <a:spcPts val="300"/>
              </a:spcAft>
            </a:pPr>
            <a:r>
              <a:rPr b="1" sz="950">
                <a:solidFill>
                  <a:srgbClr val="F8FAFC"/>
                </a:solidFill>
              </a:rPr>
              <a:t>•  In-Memory Caching (`.cache()`): </a:t>
            </a:r>
            <a:r>
              <a:rPr sz="850">
                <a:solidFill>
                  <a:srgbClr val="94A3B8"/>
                </a:solidFill>
              </a:rPr>
              <a:t>Evaluating 4 multiclass metrics sequentially would trigger 4 separate evaluations of the feature transformation pipeline DAG. Caching predictions in memory cuts total evaluation latency drastically.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DATA QUALITY &amp; EXPLORATORY DATA ANALYSIS</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Parallel Null Verification &amp; Risk Stratification Analysis</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06 / 13</a:t>
            </a:r>
          </a:p>
        </p:txBody>
      </p:sp>
      <p:sp>
        <p:nvSpPr>
          <p:cNvPr id="10" name="Rounded Rectangle 9"/>
          <p:cNvSpPr/>
          <p:nvPr/>
        </p:nvSpPr>
        <p:spPr>
          <a:xfrm>
            <a:off x="731520" y="1417320"/>
            <a:ext cx="5212080"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1645920"/>
          </a:xfrm>
          <a:prstGeom prst="rect">
            <a:avLst/>
          </a:prstGeom>
          <a:noFill/>
        </p:spPr>
        <p:txBody>
          <a:bodyPr wrap="square">
            <a:spAutoFit/>
          </a:bodyPr>
          <a:lstStyle/>
          <a:p>
            <a:pPr>
              <a:spcAft>
                <a:spcPts val="600"/>
              </a:spcAft>
              <a:defRPr sz="1100" b="1">
                <a:solidFill>
                  <a:srgbClr val="38BDF8"/>
                </a:solidFill>
              </a:defRPr>
            </a:pPr>
            <a:r>
              <a:t>PARALLELIZED NULL AGGREGATION QUERY</a:t>
            </a:r>
          </a:p>
          <a:p>
            <a:pPr>
              <a:defRPr sz="850">
                <a:solidFill>
                  <a:srgbClr val="10B981"/>
                </a:solidFill>
              </a:defRPr>
            </a:pPr>
            <a:r>
              <a:t>missing = df.select([</a:t>
            </a:r>
            <a:br/>
            <a:r>
              <a:t>    F.sum(F.when(F.col(c).isNull(), 1).otherwise(0)).alias(c)</a:t>
            </a:r>
            <a:br/>
            <a:r>
              <a:t>    for c in df.columns</a:t>
            </a:r>
            <a:br/>
            <a:r>
              <a:t>]).first().asDict()</a:t>
            </a:r>
            <a:br/>
            <a:r>
              <a:t>Result: None (Dataset is 100% complete across all 32 columns)</a:t>
            </a:r>
          </a:p>
        </p:txBody>
      </p:sp>
      <p:pic>
        <p:nvPicPr>
          <p:cNvPr id="12" name="Picture 11" descr="Screenshot 2026-10-24 175553.png"/>
          <p:cNvPicPr>
            <a:picLocks noChangeAspect="1"/>
          </p:cNvPicPr>
          <p:nvPr/>
        </p:nvPicPr>
        <p:blipFill>
          <a:blip r:embed="rId3"/>
          <a:stretch>
            <a:fillRect/>
          </a:stretch>
        </p:blipFill>
        <p:spPr>
          <a:xfrm>
            <a:off x="1097280" y="3383280"/>
            <a:ext cx="4480560" cy="2246039"/>
          </a:xfrm>
          <a:prstGeom prst="rect">
            <a:avLst/>
          </a:prstGeom>
        </p:spPr>
      </p:pic>
      <p:sp>
        <p:nvSpPr>
          <p:cNvPr id="13" name="Rounded Rectangle 12"/>
          <p:cNvSpPr/>
          <p:nvPr/>
        </p:nvSpPr>
        <p:spPr>
          <a:xfrm>
            <a:off x="6217920" y="1417320"/>
            <a:ext cx="5242255"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54480"/>
            <a:ext cx="4876495" cy="1188720"/>
          </a:xfrm>
          <a:prstGeom prst="rect">
            <a:avLst/>
          </a:prstGeom>
          <a:noFill/>
        </p:spPr>
        <p:txBody>
          <a:bodyPr wrap="square">
            <a:spAutoFit/>
          </a:bodyPr>
          <a:lstStyle/>
          <a:p>
            <a:pPr>
              <a:spcAft>
                <a:spcPts val="600"/>
              </a:spcAft>
              <a:defRPr sz="1100" b="1">
                <a:solidFill>
                  <a:srgbClr val="F97316"/>
                </a:solidFill>
              </a:defRPr>
            </a:pPr>
            <a:r>
              <a:t>EMPIRICAL CLASS SKEW PROFILE</a:t>
            </a:r>
          </a:p>
          <a:p>
            <a:pPr>
              <a:defRPr sz="850">
                <a:solidFill>
                  <a:srgbClr val="94A3B8"/>
                </a:solidFill>
              </a:defRPr>
            </a:pPr>
            <a:r>
              <a:t>Spark SQL group-by aggregations reveal significant class imbalance: Healthy (54,156), Mild (33,479), Moderate (8,299), and Severe (4,066). The model cannot rely on majority guessing.</a:t>
            </a:r>
          </a:p>
        </p:txBody>
      </p:sp>
      <p:pic>
        <p:nvPicPr>
          <p:cNvPr id="15" name="Picture 14" descr="Screenshot 2026-10-24 175643.png"/>
          <p:cNvPicPr>
            <a:picLocks noChangeAspect="1"/>
          </p:cNvPicPr>
          <p:nvPr/>
        </p:nvPicPr>
        <p:blipFill>
          <a:blip r:embed="rId4"/>
          <a:stretch>
            <a:fillRect/>
          </a:stretch>
        </p:blipFill>
        <p:spPr>
          <a:xfrm>
            <a:off x="6766560" y="2880360"/>
            <a:ext cx="4114800" cy="316916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CLINICAL BIOMARKER DISCOVERY</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Progressive Deterioration of Biomarkers Across Risk Tiers</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07 / 13</a:t>
            </a:r>
          </a:p>
        </p:txBody>
      </p:sp>
      <p:sp>
        <p:nvSpPr>
          <p:cNvPr id="10" name="Rounded Rectangle 9"/>
          <p:cNvSpPr/>
          <p:nvPr/>
        </p:nvSpPr>
        <p:spPr>
          <a:xfrm>
            <a:off x="731520" y="1417320"/>
            <a:ext cx="2542032" cy="39319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1508760"/>
            <a:ext cx="2322576" cy="868680"/>
          </a:xfrm>
          <a:prstGeom prst="rect">
            <a:avLst/>
          </a:prstGeom>
          <a:noFill/>
        </p:spPr>
        <p:txBody>
          <a:bodyPr wrap="square">
            <a:spAutoFit/>
          </a:bodyPr>
          <a:lstStyle/>
          <a:p>
            <a:pPr>
              <a:defRPr sz="1000" b="1">
                <a:solidFill>
                  <a:srgbClr val="F8FAFC"/>
                </a:solidFill>
              </a:defRPr>
            </a:pPr>
            <a:r>
              <a:t>Sleep Duration (Hours)</a:t>
            </a:r>
          </a:p>
          <a:p>
            <a:pPr>
              <a:defRPr sz="750">
                <a:solidFill>
                  <a:srgbClr val="94A3B8"/>
                </a:solidFill>
              </a:defRPr>
            </a:pPr>
            <a:r>
              <a:t>Healthy: 6.93h -&gt; Severe: 4.84h</a:t>
            </a:r>
          </a:p>
          <a:p>
            <a:pPr>
              <a:defRPr sz="950" b="1">
                <a:solidFill>
                  <a:srgbClr val="38BDF8"/>
                </a:solidFill>
              </a:defRPr>
            </a:pPr>
            <a:r>
              <a:t>Delta: -30.2%</a:t>
            </a:r>
          </a:p>
        </p:txBody>
      </p:sp>
      <p:pic>
        <p:nvPicPr>
          <p:cNvPr id="12" name="Picture 11" descr="download (3).png"/>
          <p:cNvPicPr>
            <a:picLocks noChangeAspect="1"/>
          </p:cNvPicPr>
          <p:nvPr/>
        </p:nvPicPr>
        <p:blipFill>
          <a:blip r:embed="rId3"/>
          <a:stretch>
            <a:fillRect/>
          </a:stretch>
        </p:blipFill>
        <p:spPr>
          <a:xfrm>
            <a:off x="841248" y="2468880"/>
            <a:ext cx="2322576" cy="1312760"/>
          </a:xfrm>
          <a:prstGeom prst="rect">
            <a:avLst/>
          </a:prstGeom>
        </p:spPr>
      </p:pic>
      <p:sp>
        <p:nvSpPr>
          <p:cNvPr id="13" name="Rounded Rectangle 12"/>
          <p:cNvSpPr/>
          <p:nvPr/>
        </p:nvSpPr>
        <p:spPr>
          <a:xfrm>
            <a:off x="3456432" y="1417320"/>
            <a:ext cx="2542032" cy="39319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508760"/>
            <a:ext cx="2322576" cy="868680"/>
          </a:xfrm>
          <a:prstGeom prst="rect">
            <a:avLst/>
          </a:prstGeom>
          <a:noFill/>
        </p:spPr>
        <p:txBody>
          <a:bodyPr wrap="square">
            <a:spAutoFit/>
          </a:bodyPr>
          <a:lstStyle/>
          <a:p>
            <a:pPr>
              <a:defRPr sz="1000" b="1">
                <a:solidFill>
                  <a:srgbClr val="F8FAFC"/>
                </a:solidFill>
              </a:defRPr>
            </a:pPr>
            <a:r>
              <a:t>Sleep Quality (Scale 1-10)</a:t>
            </a:r>
          </a:p>
          <a:p>
            <a:pPr>
              <a:defRPr sz="750">
                <a:solidFill>
                  <a:srgbClr val="94A3B8"/>
                </a:solidFill>
              </a:defRPr>
            </a:pPr>
            <a:r>
              <a:t>Healthy: 5.77 -&gt; Severe: 2.29</a:t>
            </a:r>
          </a:p>
          <a:p>
            <a:pPr>
              <a:defRPr sz="950" b="1">
                <a:solidFill>
                  <a:srgbClr val="F97316"/>
                </a:solidFill>
              </a:defRPr>
            </a:pPr>
            <a:r>
              <a:t>Delta: -60.3%</a:t>
            </a:r>
          </a:p>
        </p:txBody>
      </p:sp>
      <p:pic>
        <p:nvPicPr>
          <p:cNvPr id="15" name="Picture 14" descr="download.png"/>
          <p:cNvPicPr>
            <a:picLocks noChangeAspect="1"/>
          </p:cNvPicPr>
          <p:nvPr/>
        </p:nvPicPr>
        <p:blipFill>
          <a:blip r:embed="rId4"/>
          <a:stretch>
            <a:fillRect/>
          </a:stretch>
        </p:blipFill>
        <p:spPr>
          <a:xfrm>
            <a:off x="3566160" y="2468880"/>
            <a:ext cx="2322576" cy="1312760"/>
          </a:xfrm>
          <a:prstGeom prst="rect">
            <a:avLst/>
          </a:prstGeom>
        </p:spPr>
      </p:pic>
      <p:sp>
        <p:nvSpPr>
          <p:cNvPr id="16" name="Rounded Rectangle 15"/>
          <p:cNvSpPr/>
          <p:nvPr/>
        </p:nvSpPr>
        <p:spPr>
          <a:xfrm>
            <a:off x="6181344" y="1417320"/>
            <a:ext cx="2542032" cy="39319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508760"/>
            <a:ext cx="2322576" cy="868680"/>
          </a:xfrm>
          <a:prstGeom prst="rect">
            <a:avLst/>
          </a:prstGeom>
          <a:noFill/>
        </p:spPr>
        <p:txBody>
          <a:bodyPr wrap="square">
            <a:spAutoFit/>
          </a:bodyPr>
          <a:lstStyle/>
          <a:p>
            <a:pPr>
              <a:defRPr sz="1000" b="1">
                <a:solidFill>
                  <a:srgbClr val="F8FAFC"/>
                </a:solidFill>
              </a:defRPr>
            </a:pPr>
            <a:r>
              <a:t>Daily Stress (Scale 1-10)</a:t>
            </a:r>
          </a:p>
          <a:p>
            <a:pPr>
              <a:defRPr sz="750">
                <a:solidFill>
                  <a:srgbClr val="94A3B8"/>
                </a:solidFill>
              </a:defRPr>
            </a:pPr>
            <a:r>
              <a:t>Healthy: 5.85 -&gt; Severe: 7.48</a:t>
            </a:r>
          </a:p>
          <a:p>
            <a:pPr>
              <a:defRPr sz="950" b="1">
                <a:solidFill>
                  <a:srgbClr val="F59E0B"/>
                </a:solidFill>
              </a:defRPr>
            </a:pPr>
            <a:r>
              <a:t>Delta: +27.9%</a:t>
            </a:r>
          </a:p>
        </p:txBody>
      </p:sp>
      <p:pic>
        <p:nvPicPr>
          <p:cNvPr id="18" name="Picture 17" descr="download (1).png"/>
          <p:cNvPicPr>
            <a:picLocks noChangeAspect="1"/>
          </p:cNvPicPr>
          <p:nvPr/>
        </p:nvPicPr>
        <p:blipFill>
          <a:blip r:embed="rId5"/>
          <a:stretch>
            <a:fillRect/>
          </a:stretch>
        </p:blipFill>
        <p:spPr>
          <a:xfrm>
            <a:off x="6291072" y="2468880"/>
            <a:ext cx="2322576" cy="1312760"/>
          </a:xfrm>
          <a:prstGeom prst="rect">
            <a:avLst/>
          </a:prstGeom>
        </p:spPr>
      </p:pic>
      <p:sp>
        <p:nvSpPr>
          <p:cNvPr id="19" name="Rounded Rectangle 18"/>
          <p:cNvSpPr/>
          <p:nvPr/>
        </p:nvSpPr>
        <p:spPr>
          <a:xfrm>
            <a:off x="8906256" y="1417320"/>
            <a:ext cx="2542032" cy="39319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15984" y="1508760"/>
            <a:ext cx="2322576" cy="868680"/>
          </a:xfrm>
          <a:prstGeom prst="rect">
            <a:avLst/>
          </a:prstGeom>
          <a:noFill/>
        </p:spPr>
        <p:txBody>
          <a:bodyPr wrap="square">
            <a:spAutoFit/>
          </a:bodyPr>
          <a:lstStyle/>
          <a:p>
            <a:pPr>
              <a:defRPr sz="1000" b="1">
                <a:solidFill>
                  <a:srgbClr val="F8FAFC"/>
                </a:solidFill>
              </a:defRPr>
            </a:pPr>
            <a:r>
              <a:t>Cognitive Performance</a:t>
            </a:r>
          </a:p>
          <a:p>
            <a:pPr>
              <a:defRPr sz="750">
                <a:solidFill>
                  <a:srgbClr val="94A3B8"/>
                </a:solidFill>
              </a:defRPr>
            </a:pPr>
            <a:r>
              <a:t>Healthy: 72.35 -&gt; Severe: 19.04</a:t>
            </a:r>
          </a:p>
          <a:p>
            <a:pPr>
              <a:defRPr sz="950" b="1">
                <a:solidFill>
                  <a:srgbClr val="10B981"/>
                </a:solidFill>
              </a:defRPr>
            </a:pPr>
            <a:r>
              <a:t>Delta: -73.7%</a:t>
            </a:r>
          </a:p>
        </p:txBody>
      </p:sp>
      <p:pic>
        <p:nvPicPr>
          <p:cNvPr id="21" name="Picture 20" descr="download (2).png"/>
          <p:cNvPicPr>
            <a:picLocks noChangeAspect="1"/>
          </p:cNvPicPr>
          <p:nvPr/>
        </p:nvPicPr>
        <p:blipFill>
          <a:blip r:embed="rId6"/>
          <a:stretch>
            <a:fillRect/>
          </a:stretch>
        </p:blipFill>
        <p:spPr>
          <a:xfrm>
            <a:off x="9015984" y="2468880"/>
            <a:ext cx="2322576" cy="1312760"/>
          </a:xfrm>
          <a:prstGeom prst="rect">
            <a:avLst/>
          </a:prstGeom>
        </p:spPr>
      </p:pic>
      <p:sp>
        <p:nvSpPr>
          <p:cNvPr id="22" name="Rounded Rectangle 21"/>
          <p:cNvSpPr/>
          <p:nvPr/>
        </p:nvSpPr>
        <p:spPr>
          <a:xfrm>
            <a:off x="731520" y="5486400"/>
            <a:ext cx="10728655" cy="822960"/>
          </a:xfrm>
          <a:prstGeom prst="roundRect">
            <a:avLst/>
          </a:prstGeom>
          <a:solidFill>
            <a:srgbClr val="1C2A41"/>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362895" cy="685800"/>
          </a:xfrm>
          <a:prstGeom prst="rect">
            <a:avLst/>
          </a:prstGeom>
          <a:noFill/>
        </p:spPr>
        <p:txBody>
          <a:bodyPr wrap="square">
            <a:spAutoFit/>
          </a:bodyPr>
          <a:lstStyle/>
          <a:p>
            <a:r>
              <a:rPr b="1" sz="1050">
                <a:solidFill>
                  <a:srgbClr val="F59E0B"/>
                </a:solidFill>
              </a:rPr>
              <a:t>CRITICAL CLINICAL TAKEAWAY: </a:t>
            </a:r>
            <a:r>
              <a:rPr sz="950">
                <a:solidFill>
                  <a:srgbClr val="F8FAFC"/>
                </a:solidFill>
              </a:rPr>
              <a:t>While total sleep duration declines by ~2 hours (-30.2%), subjective sleep quality plummets by -60.3% and cognitive performance collapses by -73.7%. This proves that disordered sleep causes profound systemic neurobehavioral damage far exceeding simple sleep loss.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FEATURE ENGINEERING &amp; PREPROCESSING</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Prospective Triage Integrity &amp; PySpark MLlib Pipeline</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08 / 13</a:t>
            </a:r>
          </a:p>
        </p:txBody>
      </p:sp>
      <p:sp>
        <p:nvSpPr>
          <p:cNvPr id="10" name="Rounded Rectangle 9"/>
          <p:cNvSpPr/>
          <p:nvPr/>
        </p:nvSpPr>
        <p:spPr>
          <a:xfrm>
            <a:off x="731520" y="1417320"/>
            <a:ext cx="5212080"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572000"/>
          </a:xfrm>
          <a:prstGeom prst="rect">
            <a:avLst/>
          </a:prstGeom>
          <a:noFill/>
        </p:spPr>
        <p:txBody>
          <a:bodyPr wrap="square">
            <a:spAutoFit/>
          </a:bodyPr>
          <a:lstStyle/>
          <a:p>
            <a:pPr>
              <a:spcAft>
                <a:spcPts val="1000"/>
              </a:spcAft>
              <a:defRPr sz="1100" b="1">
                <a:solidFill>
                  <a:srgbClr val="F97316"/>
                </a:solidFill>
              </a:defRPr>
            </a:pPr>
            <a:r>
              <a:t>TARGET LEAKAGE PREVENTION RATIONALE</a:t>
            </a:r>
          </a:p>
          <a:p>
            <a:pPr>
              <a:spcAft>
                <a:spcPts val="500"/>
              </a:spcAft>
            </a:pPr>
            <a:r>
              <a:rPr b="1" sz="950">
                <a:solidFill>
                  <a:srgbClr val="F8FAFC"/>
                </a:solidFill>
              </a:rPr>
              <a:t>•  The 'Target Leakage' Trap: </a:t>
            </a:r>
            <a:r>
              <a:rPr sz="850">
                <a:solidFill>
                  <a:srgbClr val="94A3B8"/>
                </a:solidFill>
              </a:rPr>
              <a:t>In clinical machine learning, target leakage occurs when retrospective symptoms or outcome variables are accidentally provided as input features during model training.</a:t>
            </a:r>
          </a:p>
          <a:p>
            <a:pPr>
              <a:spcAft>
                <a:spcPts val="500"/>
              </a:spcAft>
            </a:pPr>
            <a:r>
              <a:rPr b="1" sz="950">
                <a:solidFill>
                  <a:srgbClr val="F8FAFC"/>
                </a:solidFill>
              </a:rPr>
              <a:t>•  Excluded: felt_rested: </a:t>
            </a:r>
            <a:r>
              <a:rPr sz="850">
                <a:solidFill>
                  <a:srgbClr val="94A3B8"/>
                </a:solidFill>
              </a:rPr>
              <a:t>Evaluated the morning *after* sleep. If someone reports feeling exhausted, they already manifest the disorder. Using this feature creates artificial ~99% accuracy that fails in actual triage.</a:t>
            </a:r>
          </a:p>
          <a:p>
            <a:pPr>
              <a:spcAft>
                <a:spcPts val="500"/>
              </a:spcAft>
            </a:pPr>
            <a:r>
              <a:rPr b="1" sz="950">
                <a:solidFill>
                  <a:srgbClr val="F8FAFC"/>
                </a:solidFill>
              </a:rPr>
              <a:t>•  Excluded: cognitive_score: </a:t>
            </a:r>
            <a:r>
              <a:rPr sz="850">
                <a:solidFill>
                  <a:srgbClr val="94A3B8"/>
                </a:solidFill>
              </a:rPr>
              <a:t>Evaluated during daytime tasks. It is a secondary consequence of the sleep disorder, not an overnight predictive biomarker.</a:t>
            </a:r>
          </a:p>
          <a:p>
            <a:pPr>
              <a:spcAft>
                <a:spcPts val="500"/>
              </a:spcAft>
            </a:pPr>
            <a:r>
              <a:rPr b="1" sz="950">
                <a:solidFill>
                  <a:srgbClr val="F8FAFC"/>
                </a:solidFill>
              </a:rPr>
              <a:t>•  Excluded: person_id: </a:t>
            </a:r>
            <a:r>
              <a:rPr sz="850">
                <a:solidFill>
                  <a:srgbClr val="94A3B8"/>
                </a:solidFill>
              </a:rPr>
              <a:t>Arbitrary database primary key with zero physiological predictive capacity.</a:t>
            </a:r>
          </a:p>
          <a:p>
            <a:pPr>
              <a:spcAft>
                <a:spcPts val="500"/>
              </a:spcAft>
            </a:pPr>
            <a:r>
              <a:rPr b="1" sz="950">
                <a:solidFill>
                  <a:srgbClr val="F8FAFC"/>
                </a:solidFill>
              </a:rPr>
              <a:t>•  Clinical Screening Validity: </a:t>
            </a:r>
            <a:r>
              <a:rPr sz="850">
                <a:solidFill>
                  <a:srgbClr val="94A3B8"/>
                </a:solidFill>
              </a:rPr>
              <a:t>A genuine diagnostic tool must assess prospective risk using only baseline demographics, habits, and overnight vitals *before* next-day neurocognitive symptoms manifest.</a:t>
            </a:r>
          </a:p>
        </p:txBody>
      </p:sp>
      <p:sp>
        <p:nvSpPr>
          <p:cNvPr id="12" name="Rounded Rectangle 11"/>
          <p:cNvSpPr/>
          <p:nvPr/>
        </p:nvSpPr>
        <p:spPr>
          <a:xfrm>
            <a:off x="6217920" y="1417320"/>
            <a:ext cx="5242255"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76495" cy="1463040"/>
          </a:xfrm>
          <a:prstGeom prst="rect">
            <a:avLst/>
          </a:prstGeom>
          <a:noFill/>
        </p:spPr>
        <p:txBody>
          <a:bodyPr wrap="square">
            <a:spAutoFit/>
          </a:bodyPr>
          <a:lstStyle/>
          <a:p>
            <a:pPr>
              <a:spcAft>
                <a:spcPts val="600"/>
              </a:spcAft>
              <a:defRPr sz="1100" b="1">
                <a:solidFill>
                  <a:srgbClr val="38BDF8"/>
                </a:solidFill>
              </a:defRPr>
            </a:pPr>
            <a:r>
              <a:t>DISTRIBUTED MLlib PIPELINE STAGES</a:t>
            </a:r>
          </a:p>
          <a:p>
            <a:pPr>
              <a:defRPr sz="850">
                <a:solidFill>
                  <a:srgbClr val="10B981"/>
                </a:solidFill>
              </a:defRPr>
            </a:pPr>
            <a:r>
              <a:t>1. StringIndexer: Encodes gender, occupation, country to indices</a:t>
            </a:r>
            <a:br/>
            <a:r>
              <a:t>2. OneHotEncoder: Vectorizes indices into sparse dummy vectors</a:t>
            </a:r>
            <a:br/>
            <a:r>
              <a:t>3. VectorAssembler: Consolidates 28 features into dense vector 'features'</a:t>
            </a:r>
            <a:br/>
            <a:r>
              <a:t>4. LabelIndexer: Maps target strings to numeric indices (0.0 to 3.0)</a:t>
            </a:r>
          </a:p>
        </p:txBody>
      </p:sp>
      <p:pic>
        <p:nvPicPr>
          <p:cNvPr id="14" name="Picture 13" descr="Screenshot 2026-10-24 180209.png"/>
          <p:cNvPicPr>
            <a:picLocks noChangeAspect="1"/>
          </p:cNvPicPr>
          <p:nvPr/>
        </p:nvPicPr>
        <p:blipFill>
          <a:blip r:embed="rId3"/>
          <a:stretch>
            <a:fillRect/>
          </a:stretch>
        </p:blipFill>
        <p:spPr>
          <a:xfrm>
            <a:off x="6583680" y="3154680"/>
            <a:ext cx="4480560" cy="2998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MODEL TRAINING &amp; INFERENCE DYNAMICS</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Distributed Ensemble Learning via Spark MLlib</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09 / 13</a:t>
            </a:r>
          </a:p>
        </p:txBody>
      </p:sp>
      <p:sp>
        <p:nvSpPr>
          <p:cNvPr id="10" name="Rounded Rectangle 9"/>
          <p:cNvSpPr/>
          <p:nvPr/>
        </p:nvSpPr>
        <p:spPr>
          <a:xfrm>
            <a:off x="731520" y="1417320"/>
            <a:ext cx="5212080"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572000"/>
          </a:xfrm>
          <a:prstGeom prst="rect">
            <a:avLst/>
          </a:prstGeom>
          <a:noFill/>
        </p:spPr>
        <p:txBody>
          <a:bodyPr wrap="square">
            <a:spAutoFit/>
          </a:bodyPr>
          <a:lstStyle/>
          <a:p>
            <a:pPr>
              <a:spcAft>
                <a:spcPts val="1000"/>
              </a:spcAft>
              <a:defRPr sz="1100" b="1">
                <a:solidFill>
                  <a:srgbClr val="38BDF8"/>
                </a:solidFill>
              </a:defRPr>
            </a:pPr>
            <a:r>
              <a:t>WHY RANDOM FOREST IN APACHE SPARK?</a:t>
            </a:r>
          </a:p>
          <a:p>
            <a:pPr>
              <a:spcAft>
                <a:spcPts val="500"/>
              </a:spcAft>
            </a:pPr>
            <a:r>
              <a:rPr b="1" sz="950">
                <a:solidFill>
                  <a:srgbClr val="F8FAFC"/>
                </a:solidFill>
              </a:rPr>
              <a:t>•  Non-Linear Boundaries: </a:t>
            </a:r>
            <a:r>
              <a:rPr sz="850">
                <a:solidFill>
                  <a:srgbClr val="94A3B8"/>
                </a:solidFill>
              </a:rPr>
              <a:t>Physiological biomarker interactions (e.g. high stress + short sleep + evening screen time) are highly non-linear and cannot be captured by linear classifiers.</a:t>
            </a:r>
          </a:p>
          <a:p>
            <a:pPr>
              <a:spcAft>
                <a:spcPts val="500"/>
              </a:spcAft>
            </a:pPr>
            <a:r>
              <a:rPr b="1" sz="950">
                <a:solidFill>
                  <a:srgbClr val="F8FAFC"/>
                </a:solidFill>
              </a:rPr>
              <a:t>•  Invariance to Scaling: </a:t>
            </a:r>
            <a:r>
              <a:rPr sz="850">
                <a:solidFill>
                  <a:srgbClr val="94A3B8"/>
                </a:solidFill>
              </a:rPr>
              <a:t>Decision trees split on individual feature values, eliminating the requirement for standard normalization or min-max scaling.</a:t>
            </a:r>
          </a:p>
          <a:p>
            <a:pPr>
              <a:spcAft>
                <a:spcPts val="500"/>
              </a:spcAft>
            </a:pPr>
            <a:r>
              <a:rPr b="1" sz="950">
                <a:solidFill>
                  <a:srgbClr val="F8FAFC"/>
                </a:solidFill>
              </a:rPr>
              <a:t>•  Embarrassingly Parallel: </a:t>
            </a:r>
            <a:r>
              <a:rPr sz="850">
                <a:solidFill>
                  <a:srgbClr val="94A3B8"/>
                </a:solidFill>
              </a:rPr>
              <a:t>Each decision tree in an ensemble is grown independently. Spark MLlib task schedulers distribute tree-construction tasks across worker cores simultaneously.</a:t>
            </a:r>
          </a:p>
          <a:p>
            <a:pPr>
              <a:spcAft>
                <a:spcPts val="500"/>
              </a:spcAft>
            </a:pPr>
            <a:r>
              <a:rPr b="1" sz="950">
                <a:solidFill>
                  <a:srgbClr val="F8FAFC"/>
                </a:solidFill>
              </a:rPr>
              <a:t>•  Model Hyperparameters: </a:t>
            </a:r>
            <a:r>
              <a:rPr sz="850">
                <a:solidFill>
                  <a:srgbClr val="94A3B8"/>
                </a:solidFill>
              </a:rPr>
              <a:t>Configured with numTrees=50, maxDepth=8, and seed=42 to balance high expressive capacity while preventing tree overfitting.</a:t>
            </a:r>
          </a:p>
          <a:p>
            <a:pPr>
              <a:spcAft>
                <a:spcPts val="500"/>
              </a:spcAft>
            </a:pPr>
            <a:r>
              <a:rPr b="1" sz="950">
                <a:solidFill>
                  <a:srgbClr val="F8FAFC"/>
                </a:solidFill>
              </a:rPr>
              <a:t>•  Train/Test Partitioning: </a:t>
            </a:r>
            <a:r>
              <a:rPr sz="850">
                <a:solidFill>
                  <a:srgbClr val="94A3B8"/>
                </a:solidFill>
              </a:rPr>
              <a:t>Split cleanly into 80% training (80,000 records) and 20% hold-out testing (20,000 records) using randomSplit([0.8, 0.2]).</a:t>
            </a:r>
          </a:p>
        </p:txBody>
      </p:sp>
      <p:sp>
        <p:nvSpPr>
          <p:cNvPr id="12" name="Rounded Rectangle 11"/>
          <p:cNvSpPr/>
          <p:nvPr/>
        </p:nvSpPr>
        <p:spPr>
          <a:xfrm>
            <a:off x="6217920" y="1417320"/>
            <a:ext cx="5242255"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76495" cy="1280160"/>
          </a:xfrm>
          <a:prstGeom prst="rect">
            <a:avLst/>
          </a:prstGeom>
          <a:noFill/>
        </p:spPr>
        <p:txBody>
          <a:bodyPr wrap="square">
            <a:spAutoFit/>
          </a:bodyPr>
          <a:lstStyle/>
          <a:p>
            <a:pPr>
              <a:spcAft>
                <a:spcPts val="600"/>
              </a:spcAft>
              <a:defRPr sz="1100" b="1">
                <a:solidFill>
                  <a:srgbClr val="10B981"/>
                </a:solidFill>
              </a:defRPr>
            </a:pPr>
            <a:r>
              <a:t>MODEL TRAINING &amp; PREDICTIONS PREVIEW</a:t>
            </a:r>
          </a:p>
          <a:p>
            <a:pPr>
              <a:defRPr sz="850">
                <a:solidFill>
                  <a:srgbClr val="94A3B8"/>
                </a:solidFill>
              </a:defRPr>
            </a:pPr>
            <a:r>
              <a:t>Trained pipeline on 80,000 records and generated predictions on 20,000 unseen test records. Preview confirms alignment between actual sleep_disorder_risk labels and model predictions.</a:t>
            </a:r>
          </a:p>
        </p:txBody>
      </p:sp>
      <p:pic>
        <p:nvPicPr>
          <p:cNvPr id="14" name="Picture 13" descr="Screenshot 2026-10-24 180227.png"/>
          <p:cNvPicPr>
            <a:picLocks noChangeAspect="1"/>
          </p:cNvPicPr>
          <p:nvPr/>
        </p:nvPicPr>
        <p:blipFill>
          <a:blip r:embed="rId3"/>
          <a:stretch>
            <a:fillRect/>
          </a:stretch>
        </p:blipFill>
        <p:spPr>
          <a:xfrm>
            <a:off x="6583680" y="2926080"/>
            <a:ext cx="4480560" cy="340014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RESULTS &amp; QUANTITATIVE EVALUATION</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Multi-Metric Model Validation on 20,000 Unseen Patients</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10 / 13</a:t>
            </a:r>
          </a:p>
        </p:txBody>
      </p:sp>
      <p:sp>
        <p:nvSpPr>
          <p:cNvPr id="10" name="Rounded Rectangle 9"/>
          <p:cNvSpPr/>
          <p:nvPr/>
        </p:nvSpPr>
        <p:spPr>
          <a:xfrm>
            <a:off x="731520" y="1417320"/>
            <a:ext cx="2542032" cy="960120"/>
          </a:xfrm>
          <a:prstGeom prst="roundRect">
            <a:avLst/>
          </a:prstGeom>
          <a:solidFill>
            <a:srgbClr val="141E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1463040"/>
            <a:ext cx="2322576" cy="868680"/>
          </a:xfrm>
          <a:prstGeom prst="rect">
            <a:avLst/>
          </a:prstGeom>
          <a:noFill/>
        </p:spPr>
        <p:txBody>
          <a:bodyPr wrap="none">
            <a:spAutoFit/>
          </a:bodyPr>
          <a:lstStyle/>
          <a:p>
            <a:pPr>
              <a:defRPr sz="1000" b="1">
                <a:solidFill>
                  <a:srgbClr val="94A3B8"/>
                </a:solidFill>
              </a:defRPr>
            </a:pPr>
            <a:r>
              <a:t>Accuracy</a:t>
            </a:r>
          </a:p>
          <a:p>
            <a:pPr>
              <a:defRPr sz="2000" b="1">
                <a:solidFill>
                  <a:srgbClr val="10B981"/>
                </a:solidFill>
              </a:defRPr>
            </a:pPr>
            <a:r>
              <a:t>82.43%</a:t>
            </a:r>
          </a:p>
          <a:p>
            <a:pPr>
              <a:defRPr sz="750">
                <a:solidFill>
                  <a:srgbClr val="F8FAFC"/>
                </a:solidFill>
              </a:defRPr>
            </a:pPr>
            <a:r>
              <a:t>Correct predictions across all 4 tiers</a:t>
            </a:r>
          </a:p>
        </p:txBody>
      </p:sp>
      <p:sp>
        <p:nvSpPr>
          <p:cNvPr id="12" name="Rounded Rectangle 11"/>
          <p:cNvSpPr/>
          <p:nvPr/>
        </p:nvSpPr>
        <p:spPr>
          <a:xfrm>
            <a:off x="3456432" y="1417320"/>
            <a:ext cx="2542032" cy="960120"/>
          </a:xfrm>
          <a:prstGeom prst="roundRect">
            <a:avLst/>
          </a:prstGeom>
          <a:solidFill>
            <a:srgbClr val="141E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463040"/>
            <a:ext cx="2322576" cy="868680"/>
          </a:xfrm>
          <a:prstGeom prst="rect">
            <a:avLst/>
          </a:prstGeom>
          <a:noFill/>
        </p:spPr>
        <p:txBody>
          <a:bodyPr wrap="none">
            <a:spAutoFit/>
          </a:bodyPr>
          <a:lstStyle/>
          <a:p>
            <a:pPr>
              <a:defRPr sz="1000" b="1">
                <a:solidFill>
                  <a:srgbClr val="94A3B8"/>
                </a:solidFill>
              </a:defRPr>
            </a:pPr>
            <a:r>
              <a:t>Weighted F1</a:t>
            </a:r>
          </a:p>
          <a:p>
            <a:pPr>
              <a:defRPr sz="2000" b="1">
                <a:solidFill>
                  <a:srgbClr val="10B981"/>
                </a:solidFill>
              </a:defRPr>
            </a:pPr>
            <a:r>
              <a:t>81.32%</a:t>
            </a:r>
          </a:p>
          <a:p>
            <a:pPr>
              <a:defRPr sz="750">
                <a:solidFill>
                  <a:srgbClr val="F8FAFC"/>
                </a:solidFill>
              </a:defRPr>
            </a:pPr>
            <a:r>
              <a:t>Harmonic mean balancing all classes</a:t>
            </a:r>
          </a:p>
        </p:txBody>
      </p:sp>
      <p:sp>
        <p:nvSpPr>
          <p:cNvPr id="14" name="Rounded Rectangle 13"/>
          <p:cNvSpPr/>
          <p:nvPr/>
        </p:nvSpPr>
        <p:spPr>
          <a:xfrm>
            <a:off x="6181344" y="1417320"/>
            <a:ext cx="2542032" cy="960120"/>
          </a:xfrm>
          <a:prstGeom prst="roundRect">
            <a:avLst/>
          </a:prstGeom>
          <a:solidFill>
            <a:srgbClr val="141E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463040"/>
            <a:ext cx="2322576" cy="868680"/>
          </a:xfrm>
          <a:prstGeom prst="rect">
            <a:avLst/>
          </a:prstGeom>
          <a:noFill/>
        </p:spPr>
        <p:txBody>
          <a:bodyPr wrap="none">
            <a:spAutoFit/>
          </a:bodyPr>
          <a:lstStyle/>
          <a:p>
            <a:pPr>
              <a:defRPr sz="1000" b="1">
                <a:solidFill>
                  <a:srgbClr val="94A3B8"/>
                </a:solidFill>
              </a:defRPr>
            </a:pPr>
            <a:r>
              <a:t>Weighted Precision</a:t>
            </a:r>
          </a:p>
          <a:p>
            <a:pPr>
              <a:defRPr sz="2000" b="1">
                <a:solidFill>
                  <a:srgbClr val="38BDF8"/>
                </a:solidFill>
              </a:defRPr>
            </a:pPr>
            <a:r>
              <a:t>80.35%</a:t>
            </a:r>
          </a:p>
          <a:p>
            <a:pPr>
              <a:defRPr sz="750">
                <a:solidFill>
                  <a:srgbClr val="F8FAFC"/>
                </a:solidFill>
              </a:defRPr>
            </a:pPr>
            <a:r>
              <a:t>Minimizes false hospital referrals</a:t>
            </a:r>
          </a:p>
        </p:txBody>
      </p:sp>
      <p:sp>
        <p:nvSpPr>
          <p:cNvPr id="16" name="Rounded Rectangle 15"/>
          <p:cNvSpPr/>
          <p:nvPr/>
        </p:nvSpPr>
        <p:spPr>
          <a:xfrm>
            <a:off x="8906256" y="1417320"/>
            <a:ext cx="2542032" cy="960120"/>
          </a:xfrm>
          <a:prstGeom prst="roundRect">
            <a:avLst/>
          </a:prstGeom>
          <a:solidFill>
            <a:srgbClr val="141E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15984" y="1463040"/>
            <a:ext cx="2322576" cy="868680"/>
          </a:xfrm>
          <a:prstGeom prst="rect">
            <a:avLst/>
          </a:prstGeom>
          <a:noFill/>
        </p:spPr>
        <p:txBody>
          <a:bodyPr wrap="none">
            <a:spAutoFit/>
          </a:bodyPr>
          <a:lstStyle/>
          <a:p>
            <a:pPr>
              <a:defRPr sz="1000" b="1">
                <a:solidFill>
                  <a:srgbClr val="94A3B8"/>
                </a:solidFill>
              </a:defRPr>
            </a:pPr>
            <a:r>
              <a:t>Weighted Recall</a:t>
            </a:r>
          </a:p>
          <a:p>
            <a:pPr>
              <a:defRPr sz="2000" b="1">
                <a:solidFill>
                  <a:srgbClr val="38BDF8"/>
                </a:solidFill>
              </a:defRPr>
            </a:pPr>
            <a:r>
              <a:t>82.43%</a:t>
            </a:r>
          </a:p>
          <a:p>
            <a:pPr>
              <a:defRPr sz="750">
                <a:solidFill>
                  <a:srgbClr val="F8FAFC"/>
                </a:solidFill>
              </a:defRPr>
            </a:pPr>
            <a:r>
              <a:t>Maximizes disease detection sensitivity</a:t>
            </a:r>
          </a:p>
        </p:txBody>
      </p:sp>
      <p:sp>
        <p:nvSpPr>
          <p:cNvPr id="18" name="Rounded Rectangle 17"/>
          <p:cNvSpPr/>
          <p:nvPr/>
        </p:nvSpPr>
        <p:spPr>
          <a:xfrm>
            <a:off x="731520" y="2514600"/>
            <a:ext cx="5212080" cy="3749039"/>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606040"/>
            <a:ext cx="4846320" cy="457200"/>
          </a:xfrm>
          <a:prstGeom prst="rect">
            <a:avLst/>
          </a:prstGeom>
          <a:noFill/>
        </p:spPr>
        <p:txBody>
          <a:bodyPr wrap="none">
            <a:spAutoFit/>
          </a:bodyPr>
          <a:lstStyle/>
          <a:p>
            <a:pPr>
              <a:defRPr sz="1000" b="1">
                <a:solidFill>
                  <a:srgbClr val="38BDF8"/>
                </a:solidFill>
              </a:defRPr>
            </a:pPr>
            <a:r>
              <a:t>EVALUATION CONSOLE METRICS (SPARK OUTPUT)</a:t>
            </a:r>
          </a:p>
        </p:txBody>
      </p:sp>
      <p:pic>
        <p:nvPicPr>
          <p:cNvPr id="20" name="Picture 19" descr="Screenshot 2026-10-24 180234.png"/>
          <p:cNvPicPr>
            <a:picLocks noChangeAspect="1"/>
          </p:cNvPicPr>
          <p:nvPr/>
        </p:nvPicPr>
        <p:blipFill>
          <a:blip r:embed="rId3"/>
          <a:stretch>
            <a:fillRect/>
          </a:stretch>
        </p:blipFill>
        <p:spPr>
          <a:xfrm>
            <a:off x="1097280" y="3154680"/>
            <a:ext cx="4480560" cy="2568066"/>
          </a:xfrm>
          <a:prstGeom prst="rect">
            <a:avLst/>
          </a:prstGeom>
        </p:spPr>
      </p:pic>
      <p:sp>
        <p:nvSpPr>
          <p:cNvPr id="21" name="Rounded Rectangle 20"/>
          <p:cNvSpPr/>
          <p:nvPr/>
        </p:nvSpPr>
        <p:spPr>
          <a:xfrm>
            <a:off x="6217920" y="2514600"/>
            <a:ext cx="5242255" cy="3749039"/>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606040"/>
            <a:ext cx="4876495" cy="457200"/>
          </a:xfrm>
          <a:prstGeom prst="rect">
            <a:avLst/>
          </a:prstGeom>
          <a:noFill/>
        </p:spPr>
        <p:txBody>
          <a:bodyPr wrap="none">
            <a:spAutoFit/>
          </a:bodyPr>
          <a:lstStyle/>
          <a:p>
            <a:pPr>
              <a:defRPr sz="1000" b="1">
                <a:solidFill>
                  <a:srgbClr val="10B981"/>
                </a:solidFill>
              </a:defRPr>
            </a:pPr>
            <a:r>
              <a:t>RANDOM FOREST PERFORMANCE COMPARISON</a:t>
            </a:r>
          </a:p>
        </p:txBody>
      </p:sp>
      <p:pic>
        <p:nvPicPr>
          <p:cNvPr id="23" name="Picture 22" descr="Screenshot 2026-10-24 180251.png"/>
          <p:cNvPicPr>
            <a:picLocks noChangeAspect="1"/>
          </p:cNvPicPr>
          <p:nvPr/>
        </p:nvPicPr>
        <p:blipFill>
          <a:blip r:embed="rId4"/>
          <a:stretch>
            <a:fillRect/>
          </a:stretch>
        </p:blipFill>
        <p:spPr>
          <a:xfrm>
            <a:off x="6583680" y="3154680"/>
            <a:ext cx="4480560" cy="29473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CLUSTER COMPUTING ARCHITECTURE</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Spark Computational Advantages: Catalyst, Caching &amp; Parallelism</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11 / 13</a:t>
            </a:r>
          </a:p>
        </p:txBody>
      </p:sp>
      <p:sp>
        <p:nvSpPr>
          <p:cNvPr id="10" name="Rounded Rectangle 9"/>
          <p:cNvSpPr/>
          <p:nvPr/>
        </p:nvSpPr>
        <p:spPr>
          <a:xfrm>
            <a:off x="731520" y="1417320"/>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81912"/>
            <a:ext cx="777240" cy="749808"/>
          </a:xfrm>
          <a:prstGeom prst="roundRect">
            <a:avLst/>
          </a:prstGeom>
          <a:solidFill>
            <a:srgbClr val="1C2A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38BDF8"/>
                </a:solidFill>
              </a:defRPr>
            </a:pPr>
            <a:r>
              <a:t>01</a:t>
            </a:r>
          </a:p>
        </p:txBody>
      </p:sp>
      <p:sp>
        <p:nvSpPr>
          <p:cNvPr id="12" name="TextBox 11"/>
          <p:cNvSpPr txBox="1"/>
          <p:nvPr/>
        </p:nvSpPr>
        <p:spPr>
          <a:xfrm>
            <a:off x="1920240" y="1527048"/>
            <a:ext cx="9326880" cy="868680"/>
          </a:xfrm>
          <a:prstGeom prst="rect">
            <a:avLst/>
          </a:prstGeom>
          <a:noFill/>
        </p:spPr>
        <p:txBody>
          <a:bodyPr wrap="square">
            <a:spAutoFit/>
          </a:bodyPr>
          <a:lstStyle/>
          <a:p>
            <a:pPr>
              <a:spcAft>
                <a:spcPts val="400"/>
              </a:spcAft>
              <a:defRPr sz="1200" b="1">
                <a:solidFill>
                  <a:srgbClr val="F8FAFC"/>
                </a:solidFill>
              </a:defRPr>
            </a:pPr>
            <a:r>
              <a:t>Catalyst Query Optimization &amp; Lazy DAGs</a:t>
            </a:r>
          </a:p>
          <a:p>
            <a:pPr>
              <a:defRPr sz="950">
                <a:solidFill>
                  <a:srgbClr val="94A3B8"/>
                </a:solidFill>
              </a:defRPr>
            </a:pPr>
            <a:r>
              <a:t>Spark avoids immediate physical execution upon invoking transformations. Instead, it constructs a Directed Acyclic Graph (DAG) and compiles an optimized physical plan. Catalyst merges filter predicates and executes columnar projections, drastically cutting memory usage compared to Pandas.</a:t>
            </a:r>
          </a:p>
        </p:txBody>
      </p:sp>
      <p:sp>
        <p:nvSpPr>
          <p:cNvPr id="13" name="Rounded Rectangle 12"/>
          <p:cNvSpPr/>
          <p:nvPr/>
        </p:nvSpPr>
        <p:spPr>
          <a:xfrm>
            <a:off x="731520" y="2624328"/>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 y="2788920"/>
            <a:ext cx="777240" cy="749808"/>
          </a:xfrm>
          <a:prstGeom prst="roundRect">
            <a:avLst/>
          </a:prstGeom>
          <a:solidFill>
            <a:srgbClr val="1C2A4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0B981"/>
                </a:solidFill>
              </a:defRPr>
            </a:pPr>
            <a:r>
              <a:t>02</a:t>
            </a:r>
          </a:p>
        </p:txBody>
      </p:sp>
      <p:sp>
        <p:nvSpPr>
          <p:cNvPr id="15" name="TextBox 14"/>
          <p:cNvSpPr txBox="1"/>
          <p:nvPr/>
        </p:nvSpPr>
        <p:spPr>
          <a:xfrm>
            <a:off x="1920240" y="2734056"/>
            <a:ext cx="9326880" cy="868680"/>
          </a:xfrm>
          <a:prstGeom prst="rect">
            <a:avLst/>
          </a:prstGeom>
          <a:noFill/>
        </p:spPr>
        <p:txBody>
          <a:bodyPr wrap="square">
            <a:spAutoFit/>
          </a:bodyPr>
          <a:lstStyle/>
          <a:p>
            <a:pPr>
              <a:spcAft>
                <a:spcPts val="400"/>
              </a:spcAft>
              <a:defRPr sz="1200" b="1">
                <a:solidFill>
                  <a:srgbClr val="F8FAFC"/>
                </a:solidFill>
              </a:defRPr>
            </a:pPr>
            <a:r>
              <a:t>In-Memory Caching (`predictions.cache()`)</a:t>
            </a:r>
          </a:p>
          <a:p>
            <a:pPr>
              <a:defRPr sz="950">
                <a:solidFill>
                  <a:srgbClr val="94A3B8"/>
                </a:solidFill>
              </a:defRPr>
            </a:pPr>
            <a:r>
              <a:t>When evaluating Accuracy, F1, Precision, and Recall sequentially, a naive Spark script would re-evaluate the upstream 5-stage feature transformation pipeline 4 times. Caching the test inference DataFrame in executor RAM avoids 3 redundant pipeline executions, saving massive compute time.</a:t>
            </a:r>
          </a:p>
        </p:txBody>
      </p:sp>
      <p:sp>
        <p:nvSpPr>
          <p:cNvPr id="16" name="Rounded Rectangle 15"/>
          <p:cNvSpPr/>
          <p:nvPr/>
        </p:nvSpPr>
        <p:spPr>
          <a:xfrm>
            <a:off x="731520" y="3831336"/>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 y="3995928"/>
            <a:ext cx="777240" cy="749808"/>
          </a:xfrm>
          <a:prstGeom prst="roundRect">
            <a:avLst/>
          </a:prstGeom>
          <a:solidFill>
            <a:srgbClr val="1C2A41"/>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97316"/>
                </a:solidFill>
              </a:defRPr>
            </a:pPr>
            <a:r>
              <a:t>03</a:t>
            </a:r>
          </a:p>
        </p:txBody>
      </p:sp>
      <p:sp>
        <p:nvSpPr>
          <p:cNvPr id="18" name="TextBox 17"/>
          <p:cNvSpPr txBox="1"/>
          <p:nvPr/>
        </p:nvSpPr>
        <p:spPr>
          <a:xfrm>
            <a:off x="1920240" y="3941064"/>
            <a:ext cx="9326880" cy="868680"/>
          </a:xfrm>
          <a:prstGeom prst="rect">
            <a:avLst/>
          </a:prstGeom>
          <a:noFill/>
        </p:spPr>
        <p:txBody>
          <a:bodyPr wrap="square">
            <a:spAutoFit/>
          </a:bodyPr>
          <a:lstStyle/>
          <a:p>
            <a:pPr>
              <a:spcAft>
                <a:spcPts val="400"/>
              </a:spcAft>
              <a:defRPr sz="1200" b="1">
                <a:solidFill>
                  <a:srgbClr val="F8FAFC"/>
                </a:solidFill>
              </a:defRPr>
            </a:pPr>
            <a:r>
              <a:t>Parallel Partition Scheduling &amp; Tree Induction</a:t>
            </a:r>
          </a:p>
          <a:p>
            <a:pPr>
              <a:defRPr sz="950">
                <a:solidFill>
                  <a:srgbClr val="94A3B8"/>
                </a:solidFill>
              </a:defRPr>
            </a:pPr>
            <a:r>
              <a:t>PySpark distributes tree building across all CPU cores simultaneously (`local[*]`). Each partition evaluates split points on local subsets of data and synchronizes tree nodes with the driver, achieving linear CPU core saturation.</a:t>
            </a:r>
          </a:p>
        </p:txBody>
      </p:sp>
      <p:sp>
        <p:nvSpPr>
          <p:cNvPr id="19" name="Rounded Rectangle 18"/>
          <p:cNvSpPr/>
          <p:nvPr/>
        </p:nvSpPr>
        <p:spPr>
          <a:xfrm>
            <a:off x="731520" y="5038344"/>
            <a:ext cx="10728655" cy="1078992"/>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0120" y="5202936"/>
            <a:ext cx="777240" cy="749808"/>
          </a:xfrm>
          <a:prstGeom prst="roundRect">
            <a:avLst/>
          </a:prstGeom>
          <a:solidFill>
            <a:srgbClr val="1C2A4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9E0B"/>
                </a:solidFill>
              </a:defRPr>
            </a:pPr>
            <a:r>
              <a:t>04</a:t>
            </a:r>
          </a:p>
        </p:txBody>
      </p:sp>
      <p:sp>
        <p:nvSpPr>
          <p:cNvPr id="21" name="TextBox 20"/>
          <p:cNvSpPr txBox="1"/>
          <p:nvPr/>
        </p:nvSpPr>
        <p:spPr>
          <a:xfrm>
            <a:off x="1920240" y="5148072"/>
            <a:ext cx="9326880" cy="868680"/>
          </a:xfrm>
          <a:prstGeom prst="rect">
            <a:avLst/>
          </a:prstGeom>
          <a:noFill/>
        </p:spPr>
        <p:txBody>
          <a:bodyPr wrap="square">
            <a:spAutoFit/>
          </a:bodyPr>
          <a:lstStyle/>
          <a:p>
            <a:pPr>
              <a:spcAft>
                <a:spcPts val="400"/>
              </a:spcAft>
              <a:defRPr sz="1200" b="1">
                <a:solidFill>
                  <a:srgbClr val="F8FAFC"/>
                </a:solidFill>
              </a:defRPr>
            </a:pPr>
            <a:r>
              <a:t>Enterprise Scalability to Multi-Node Clusters</a:t>
            </a:r>
          </a:p>
          <a:p>
            <a:pPr>
              <a:defRPr sz="950">
                <a:solidFill>
                  <a:srgbClr val="94A3B8"/>
                </a:solidFill>
              </a:defRPr>
            </a:pPr>
            <a:r>
              <a:t>Because all code uses PySpark DataFrame and MLlib Pipeline APIs, this notebook can be deployed directly to an enterprise Apache Hadoop YARN, AWS EMR, or Kubernetes multi-node cluster without altering a single line of business logic.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LIMITATIONS &amp; FUTURE ROADMAP</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Engineering Trade-Offs &amp; Strategic Scalability Roadmap</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12 / 13</a:t>
            </a:r>
          </a:p>
        </p:txBody>
      </p:sp>
      <p:sp>
        <p:nvSpPr>
          <p:cNvPr id="10" name="Rounded Rectangle 9"/>
          <p:cNvSpPr/>
          <p:nvPr/>
        </p:nvSpPr>
        <p:spPr>
          <a:xfrm>
            <a:off x="731520" y="1417320"/>
            <a:ext cx="5212080"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4572000"/>
          </a:xfrm>
          <a:prstGeom prst="rect">
            <a:avLst/>
          </a:prstGeom>
          <a:noFill/>
        </p:spPr>
        <p:txBody>
          <a:bodyPr wrap="square">
            <a:spAutoFit/>
          </a:bodyPr>
          <a:lstStyle/>
          <a:p>
            <a:pPr>
              <a:spcAft>
                <a:spcPts val="1000"/>
              </a:spcAft>
              <a:defRPr sz="1100" b="1">
                <a:solidFill>
                  <a:srgbClr val="F97316"/>
                </a:solidFill>
              </a:defRPr>
            </a:pPr>
            <a:r>
              <a:t>RECOGNIZED PROJECT LIMITATIONS</a:t>
            </a:r>
          </a:p>
          <a:p>
            <a:pPr>
              <a:spcAft>
                <a:spcPts val="800"/>
              </a:spcAft>
            </a:pPr>
            <a:r>
              <a:rPr b="1" sz="950">
                <a:solidFill>
                  <a:srgbClr val="F8FAFC"/>
                </a:solidFill>
              </a:rPr>
              <a:t>•  Synthetic Calibration: </a:t>
            </a:r>
            <a:r>
              <a:rPr sz="850">
                <a:solidFill>
                  <a:srgbClr val="94A3B8"/>
                </a:solidFill>
              </a:rPr>
              <a:t>While calibrated against CDC NHIS epidemiological survey distributions, synthetic cohorts lack real-world wearable sensor motion artifacts, dropped packets, and loose-wrist noise.</a:t>
            </a:r>
          </a:p>
          <a:p>
            <a:pPr>
              <a:spcAft>
                <a:spcPts val="800"/>
              </a:spcAft>
            </a:pPr>
            <a:r>
              <a:rPr b="1" sz="950">
                <a:solidFill>
                  <a:srgbClr val="F8FAFC"/>
                </a:solidFill>
              </a:rPr>
              <a:t>•  Single-Node Simulation: </a:t>
            </a:r>
            <a:r>
              <a:rPr sz="850">
                <a:solidFill>
                  <a:srgbClr val="94A3B8"/>
                </a:solidFill>
              </a:rPr>
              <a:t>The Spark cluster ran in local[*] mode inside Google Colab (multi-threaded VM) rather than a physical bare-metal multi-node server cluster.</a:t>
            </a:r>
          </a:p>
          <a:p>
            <a:pPr>
              <a:spcAft>
                <a:spcPts val="800"/>
              </a:spcAft>
            </a:pPr>
            <a:r>
              <a:rPr b="1" sz="950">
                <a:solidFill>
                  <a:srgbClr val="F8FAFC"/>
                </a:solidFill>
              </a:rPr>
              <a:t>•  Fixed Hyperparameters: </a:t>
            </a:r>
            <a:r>
              <a:rPr sz="850">
                <a:solidFill>
                  <a:srgbClr val="94A3B8"/>
                </a:solidFill>
              </a:rPr>
              <a:t>Random Forest parameters (50 trees, maxDepth 8) were chosen based on empirical benchmarks rather than an exhaustive distributed hyperparameter grid search.</a:t>
            </a:r>
          </a:p>
          <a:p>
            <a:pPr>
              <a:spcAft>
                <a:spcPts val="800"/>
              </a:spcAft>
            </a:pPr>
            <a:r>
              <a:rPr b="1" sz="950">
                <a:solidFill>
                  <a:srgbClr val="F8FAFC"/>
                </a:solidFill>
              </a:rPr>
              <a:t>•  Severe Cohort Imbalance: </a:t>
            </a:r>
            <a:r>
              <a:rPr sz="850">
                <a:solidFill>
                  <a:srgbClr val="94A3B8"/>
                </a:solidFill>
              </a:rPr>
              <a:t>The Severe category represents only 4.07% (4,066 records), which limits granular sub-type classification (e.g. differentiating severe insomnia from severe central apnea).</a:t>
            </a:r>
          </a:p>
        </p:txBody>
      </p:sp>
      <p:sp>
        <p:nvSpPr>
          <p:cNvPr id="12" name="Rounded Rectangle 11"/>
          <p:cNvSpPr/>
          <p:nvPr/>
        </p:nvSpPr>
        <p:spPr>
          <a:xfrm>
            <a:off x="6217920" y="1417320"/>
            <a:ext cx="5242255" cy="484632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76495" cy="4572000"/>
          </a:xfrm>
          <a:prstGeom prst="rect">
            <a:avLst/>
          </a:prstGeom>
          <a:noFill/>
        </p:spPr>
        <p:txBody>
          <a:bodyPr wrap="square">
            <a:spAutoFit/>
          </a:bodyPr>
          <a:lstStyle/>
          <a:p>
            <a:pPr>
              <a:spcAft>
                <a:spcPts val="1000"/>
              </a:spcAft>
              <a:defRPr sz="1100" b="1">
                <a:solidFill>
                  <a:srgbClr val="10B981"/>
                </a:solidFill>
              </a:defRPr>
            </a:pPr>
            <a:r>
              <a:t>FUTURE ENGINEERING ROADMAP</a:t>
            </a:r>
          </a:p>
          <a:p>
            <a:pPr>
              <a:spcAft>
                <a:spcPts val="800"/>
              </a:spcAft>
            </a:pPr>
            <a:r>
              <a:rPr b="1" sz="950">
                <a:solidFill>
                  <a:srgbClr val="F8FAFC"/>
                </a:solidFill>
              </a:rPr>
              <a:t>•  Distributed Hyperparameter Tuning: </a:t>
            </a:r>
            <a:r>
              <a:rPr sz="850">
                <a:solidFill>
                  <a:srgbClr val="94A3B8"/>
                </a:solidFill>
              </a:rPr>
              <a:t>Implement Spark's ParamGridBuilder and CrossValidator to optimize tree depth, numTrees, and feature subset strategies across worker nodes.</a:t>
            </a:r>
          </a:p>
          <a:p>
            <a:pPr>
              <a:spcAft>
                <a:spcPts val="800"/>
              </a:spcAft>
            </a:pPr>
            <a:r>
              <a:rPr b="1" sz="950">
                <a:solidFill>
                  <a:srgbClr val="F8FAFC"/>
                </a:solidFill>
              </a:rPr>
              <a:t>•  Class-Weighted Loss &amp; Resampling: </a:t>
            </a:r>
            <a:r>
              <a:rPr sz="850">
                <a:solidFill>
                  <a:srgbClr val="94A3B8"/>
                </a:solidFill>
              </a:rPr>
              <a:t>Incorporate cost-sensitive classification weights or distributed SMOTE oversampling to improve detection sensitivity on the rare Severe risk cohort (4.07%).</a:t>
            </a:r>
          </a:p>
          <a:p>
            <a:pPr>
              <a:spcAft>
                <a:spcPts val="800"/>
              </a:spcAft>
            </a:pPr>
            <a:r>
              <a:rPr b="1" sz="950">
                <a:solidFill>
                  <a:srgbClr val="F8FAFC"/>
                </a:solidFill>
              </a:rPr>
              <a:t>•  Real-Time Streaming Telemetry: </a:t>
            </a:r>
            <a:r>
              <a:rPr sz="850">
                <a:solidFill>
                  <a:srgbClr val="94A3B8"/>
                </a:solidFill>
              </a:rPr>
              <a:t>Extend from batch processing to real-time micro-batch streaming via Apache Kafka and Spark Structured Streaming for continuous smartwatch telemetry processing.</a:t>
            </a:r>
          </a:p>
          <a:p>
            <a:pPr>
              <a:spcAft>
                <a:spcPts val="800"/>
              </a:spcAft>
            </a:pPr>
            <a:r>
              <a:rPr b="1" sz="950">
                <a:solidFill>
                  <a:srgbClr val="F8FAFC"/>
                </a:solidFill>
              </a:rPr>
              <a:t>•  Multi-Node Cloud Deployment: </a:t>
            </a:r>
            <a:r>
              <a:rPr sz="850">
                <a:solidFill>
                  <a:srgbClr val="94A3B8"/>
                </a:solidFill>
              </a:rPr>
              <a:t>Deploy the PySpark MLlib pipeline onto an AWS EMR or Databricks Kubernetes cluster to evaluate horizontal cluster speedup on cohorts exceeding 10M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3474720" cy="256032"/>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38BDF8"/>
                </a:solidFill>
              </a:defRPr>
            </a:pPr>
            <a:r>
              <a:t>PROJECT SUMMARY &amp; DEFENSE</a:t>
            </a:r>
          </a:p>
        </p:txBody>
      </p:sp>
      <p:sp>
        <p:nvSpPr>
          <p:cNvPr id="4" name="TextBox 3"/>
          <p:cNvSpPr txBox="1"/>
          <p:nvPr/>
        </p:nvSpPr>
        <p:spPr>
          <a:xfrm>
            <a:off x="731520" y="594360"/>
            <a:ext cx="8778240" cy="594360"/>
          </a:xfrm>
          <a:prstGeom prst="rect">
            <a:avLst/>
          </a:prstGeom>
          <a:noFill/>
        </p:spPr>
        <p:txBody>
          <a:bodyPr wrap="square">
            <a:spAutoFit/>
          </a:bodyPr>
          <a:lstStyle/>
          <a:p>
            <a:pPr>
              <a:defRPr sz="1900" b="1">
                <a:solidFill>
                  <a:srgbClr val="F8FAFC"/>
                </a:solidFill>
              </a:defRPr>
            </a:pPr>
            <a:r>
              <a:t>Project Synthesis, Repository Deliverables &amp; Viva Voce</a:t>
            </a:r>
          </a:p>
        </p:txBody>
      </p:sp>
      <p:sp>
        <p:nvSpPr>
          <p:cNvPr id="5" name="Rounded Rectangle 4"/>
          <p:cNvSpPr/>
          <p:nvPr/>
        </p:nvSpPr>
        <p:spPr>
          <a:xfrm>
            <a:off x="9692640" y="292608"/>
            <a:ext cx="1783080" cy="59436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pu_logo_highres_transparent.png"/>
          <p:cNvPicPr>
            <a:picLocks noChangeAspect="1"/>
          </p:cNvPicPr>
          <p:nvPr/>
        </p:nvPicPr>
        <p:blipFill>
          <a:blip r:embed="rId2"/>
          <a:stretch>
            <a:fillRect/>
          </a:stretch>
        </p:blipFill>
        <p:spPr>
          <a:xfrm>
            <a:off x="9802368" y="338328"/>
            <a:ext cx="1572768" cy="549189"/>
          </a:xfrm>
          <a:prstGeom prst="rect">
            <a:avLst/>
          </a:prstGeom>
        </p:spPr>
      </p:pic>
      <p:sp>
        <p:nvSpPr>
          <p:cNvPr id="7" name="Rectangle 6"/>
          <p:cNvSpPr/>
          <p:nvPr/>
        </p:nvSpPr>
        <p:spPr>
          <a:xfrm>
            <a:off x="731520" y="6446520"/>
            <a:ext cx="10728655" cy="13716"/>
          </a:xfrm>
          <a:prstGeom prst="rect">
            <a:avLst/>
          </a:prstGeom>
          <a:solidFill>
            <a:srgbClr val="2D3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8412480" cy="274320"/>
          </a:xfrm>
          <a:prstGeom prst="rect">
            <a:avLst/>
          </a:prstGeom>
          <a:noFill/>
        </p:spPr>
        <p:txBody>
          <a:bodyPr wrap="none">
            <a:spAutoFit/>
          </a:bodyPr>
          <a:lstStyle/>
          <a:p>
            <a:pPr>
              <a:defRPr sz="800">
                <a:solidFill>
                  <a:srgbClr val="94A3B8"/>
                </a:solidFill>
              </a:defRPr>
            </a:pPr>
            <a:r>
              <a:t>Vecha Laxmi Swaraj Babu (Reg: 12307477 | Roll: 45) | Supervisor: Dr. Pardeep Kumar | Lovely Professional University</a:t>
            </a:r>
          </a:p>
        </p:txBody>
      </p:sp>
      <p:sp>
        <p:nvSpPr>
          <p:cNvPr id="9" name="TextBox 8"/>
          <p:cNvSpPr txBox="1"/>
          <p:nvPr/>
        </p:nvSpPr>
        <p:spPr>
          <a:xfrm>
            <a:off x="9875520" y="6473952"/>
            <a:ext cx="1584655" cy="274320"/>
          </a:xfrm>
          <a:prstGeom prst="rect">
            <a:avLst/>
          </a:prstGeom>
          <a:noFill/>
        </p:spPr>
        <p:txBody>
          <a:bodyPr wrap="none">
            <a:spAutoFit/>
          </a:bodyPr>
          <a:lstStyle/>
          <a:p>
            <a:pPr algn="r">
              <a:defRPr sz="850" b="1">
                <a:solidFill>
                  <a:srgbClr val="38BDF8"/>
                </a:solidFill>
              </a:defRPr>
            </a:pPr>
            <a:r>
              <a:t>13 / 13</a:t>
            </a:r>
          </a:p>
        </p:txBody>
      </p:sp>
      <p:sp>
        <p:nvSpPr>
          <p:cNvPr id="10" name="Rounded Rectangle 9"/>
          <p:cNvSpPr/>
          <p:nvPr/>
        </p:nvSpPr>
        <p:spPr>
          <a:xfrm>
            <a:off x="731520" y="1417320"/>
            <a:ext cx="5212080" cy="384048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846320" cy="3566160"/>
          </a:xfrm>
          <a:prstGeom prst="rect">
            <a:avLst/>
          </a:prstGeom>
          <a:noFill/>
        </p:spPr>
        <p:txBody>
          <a:bodyPr wrap="square">
            <a:spAutoFit/>
          </a:bodyPr>
          <a:lstStyle/>
          <a:p>
            <a:pPr>
              <a:spcAft>
                <a:spcPts val="1000"/>
              </a:spcAft>
              <a:defRPr sz="1100" b="1">
                <a:solidFill>
                  <a:srgbClr val="38BDF8"/>
                </a:solidFill>
              </a:defRPr>
            </a:pPr>
            <a:r>
              <a:t>PROJECT SUMMARY &amp; DELIVERABLES</a:t>
            </a:r>
          </a:p>
          <a:p>
            <a:pPr>
              <a:spcAft>
                <a:spcPts val="500"/>
              </a:spcAft>
            </a:pPr>
            <a:r>
              <a:rPr b="1" sz="950">
                <a:solidFill>
                  <a:srgbClr val="F8FAFC"/>
                </a:solidFill>
              </a:rPr>
              <a:t>•  End-to-End Big Data Pipeline: </a:t>
            </a:r>
            <a:r>
              <a:rPr sz="850">
                <a:solidFill>
                  <a:srgbClr val="94A3B8"/>
                </a:solidFill>
              </a:rPr>
              <a:t>Successfully built, executed, and validated a distributed PySpark MLlib workflow on 100,000 records without single-node memory failure.</a:t>
            </a:r>
          </a:p>
          <a:p>
            <a:pPr>
              <a:spcAft>
                <a:spcPts val="500"/>
              </a:spcAft>
            </a:pPr>
            <a:r>
              <a:rPr b="1" sz="950">
                <a:solidFill>
                  <a:srgbClr val="F8FAFC"/>
                </a:solidFill>
              </a:rPr>
              <a:t>•  High Diagnostic Accuracy: </a:t>
            </a:r>
            <a:r>
              <a:rPr sz="850">
                <a:solidFill>
                  <a:srgbClr val="94A3B8"/>
                </a:solidFill>
              </a:rPr>
              <a:t>Achieved 82.43% test accuracy and 81.32% weighted F1-score across 4 clinical tiers, significantly outperforming the naive 54.16% majority baseline.</a:t>
            </a:r>
          </a:p>
          <a:p>
            <a:pPr>
              <a:spcAft>
                <a:spcPts val="500"/>
              </a:spcAft>
            </a:pPr>
            <a:r>
              <a:rPr b="1" sz="950">
                <a:solidFill>
                  <a:srgbClr val="F8FAFC"/>
                </a:solidFill>
              </a:rPr>
              <a:t>•  Target Leakage Cleanliness: </a:t>
            </a:r>
            <a:r>
              <a:rPr sz="850">
                <a:solidFill>
                  <a:srgbClr val="94A3B8"/>
                </a:solidFill>
              </a:rPr>
              <a:t>Demonstrated prospective clinical triage validity by removing retrospective next-day outcome columns.</a:t>
            </a:r>
          </a:p>
          <a:p>
            <a:pPr>
              <a:spcAft>
                <a:spcPts val="500"/>
              </a:spcAft>
            </a:pPr>
            <a:r>
              <a:rPr b="1" sz="950">
                <a:solidFill>
                  <a:srgbClr val="F8FAFC"/>
                </a:solidFill>
              </a:rPr>
              <a:t>•  Cluster Scalability: </a:t>
            </a:r>
            <a:r>
              <a:rPr sz="850">
                <a:solidFill>
                  <a:srgbClr val="94A3B8"/>
                </a:solidFill>
              </a:rPr>
              <a:t>Demonstrated Catalyst optimization, DAG lazy scheduling, in-memory caching, and multi-core parallel tree induction.</a:t>
            </a:r>
          </a:p>
        </p:txBody>
      </p:sp>
      <p:sp>
        <p:nvSpPr>
          <p:cNvPr id="12" name="Rounded Rectangle 11"/>
          <p:cNvSpPr/>
          <p:nvPr/>
        </p:nvSpPr>
        <p:spPr>
          <a:xfrm>
            <a:off x="6217920" y="1417320"/>
            <a:ext cx="5242255" cy="3840480"/>
          </a:xfrm>
          <a:prstGeom prst="roundRect">
            <a:avLst/>
          </a:prstGeom>
          <a:solidFill>
            <a:srgbClr val="141E30"/>
          </a:solidFill>
          <a:ln w="12700">
            <a:solidFill>
              <a:srgbClr val="2D3C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76495" cy="3566160"/>
          </a:xfrm>
          <a:prstGeom prst="rect">
            <a:avLst/>
          </a:prstGeom>
          <a:noFill/>
        </p:spPr>
        <p:txBody>
          <a:bodyPr wrap="square">
            <a:spAutoFit/>
          </a:bodyPr>
          <a:lstStyle/>
          <a:p>
            <a:pPr>
              <a:spcAft>
                <a:spcPts val="1000"/>
              </a:spcAft>
              <a:defRPr sz="1100" b="1">
                <a:solidFill>
                  <a:srgbClr val="10B981"/>
                </a:solidFill>
              </a:defRPr>
            </a:pPr>
            <a:r>
              <a:t>VERIFIED REPOSITORY ARTIFACTS</a:t>
            </a:r>
          </a:p>
          <a:p>
            <a:pPr>
              <a:spcAft>
                <a:spcPts val="400"/>
              </a:spcAft>
            </a:pPr>
            <a:r>
              <a:rPr b="1" sz="950">
                <a:solidFill>
                  <a:srgbClr val="F8FAFC"/>
                </a:solidFill>
              </a:rPr>
              <a:t>•  GitHub Repository: </a:t>
            </a:r>
            <a:r>
              <a:rPr sz="850">
                <a:solidFill>
                  <a:srgbClr val="94A3B8"/>
                </a:solidFill>
              </a:rPr>
              <a:t>https://github.com/Swarajbabu/SLEEP-HEALTH-ANALYSIS</a:t>
            </a:r>
          </a:p>
          <a:p>
            <a:pPr>
              <a:spcAft>
                <a:spcPts val="400"/>
              </a:spcAft>
            </a:pPr>
            <a:r>
              <a:rPr b="1" sz="950">
                <a:solidFill>
                  <a:srgbClr val="F8FAFC"/>
                </a:solidFill>
              </a:rPr>
              <a:t>•  Project Report (PDF): </a:t>
            </a:r>
            <a:r>
              <a:rPr sz="850">
                <a:solidFill>
                  <a:srgbClr val="94A3B8"/>
                </a:solidFill>
              </a:rPr>
              <a:t>16-page formal academic report complete with theoretical formulations, system architecture, and empirical tables</a:t>
            </a:r>
          </a:p>
          <a:p>
            <a:pPr>
              <a:spcAft>
                <a:spcPts val="400"/>
              </a:spcAft>
            </a:pPr>
            <a:r>
              <a:rPr b="1" sz="950">
                <a:solidFill>
                  <a:srgbClr val="F8FAFC"/>
                </a:solidFill>
              </a:rPr>
              <a:t>•  PySpark Notebook: </a:t>
            </a:r>
            <a:r>
              <a:rPr sz="850">
                <a:solidFill>
                  <a:srgbClr val="94A3B8"/>
                </a:solidFill>
              </a:rPr>
              <a:t>Project.ipynb: fully reproducible, zero-error executable Google Colab notebook</a:t>
            </a:r>
          </a:p>
          <a:p>
            <a:pPr>
              <a:spcAft>
                <a:spcPts val="400"/>
              </a:spcAft>
            </a:pPr>
            <a:r>
              <a:rPr b="1" sz="950">
                <a:solidFill>
                  <a:srgbClr val="F8FAFC"/>
                </a:solidFill>
              </a:rPr>
              <a:t>•  Dataset Archive: </a:t>
            </a:r>
            <a:r>
              <a:rPr sz="850">
                <a:solidFill>
                  <a:srgbClr val="94A3B8"/>
                </a:solidFill>
              </a:rPr>
              <a:t>sleep_health_dataset.csv: 100,000 rows, 32 attributes (14.87 MB)</a:t>
            </a:r>
          </a:p>
          <a:p>
            <a:pPr>
              <a:spcAft>
                <a:spcPts val="400"/>
              </a:spcAft>
            </a:pPr>
            <a:r>
              <a:rPr b="1" sz="950">
                <a:solidFill>
                  <a:srgbClr val="F8FAFC"/>
                </a:solidFill>
              </a:rPr>
              <a:t>•  Visual Asset Gallery: </a:t>
            </a:r>
            <a:r>
              <a:rPr sz="850">
                <a:solidFill>
                  <a:srgbClr val="94A3B8"/>
                </a:solidFill>
              </a:rPr>
              <a:t>images/ directory containing all 16 execution and result screenshots</a:t>
            </a:r>
          </a:p>
          <a:p>
            <a:pPr>
              <a:spcAft>
                <a:spcPts val="400"/>
              </a:spcAft>
            </a:pPr>
            <a:r>
              <a:rPr b="1" sz="950">
                <a:solidFill>
                  <a:srgbClr val="F8FAFC"/>
                </a:solidFill>
              </a:rPr>
              <a:t>•  Documentation: </a:t>
            </a:r>
            <a:r>
              <a:rPr sz="850">
                <a:solidFill>
                  <a:srgbClr val="94A3B8"/>
                </a:solidFill>
              </a:rPr>
              <a:t>README.md: production-grade documentation with architecture diagrams, formulas, and gallery</a:t>
            </a:r>
          </a:p>
        </p:txBody>
      </p:sp>
      <p:sp>
        <p:nvSpPr>
          <p:cNvPr id="14" name="Rounded Rectangle 13"/>
          <p:cNvSpPr/>
          <p:nvPr/>
        </p:nvSpPr>
        <p:spPr>
          <a:xfrm>
            <a:off x="731520" y="5440680"/>
            <a:ext cx="10728655" cy="868680"/>
          </a:xfrm>
          <a:prstGeom prst="roundRect">
            <a:avLst/>
          </a:prstGeom>
          <a:solidFill>
            <a:srgbClr val="1C2A4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32120"/>
            <a:ext cx="10362895" cy="731520"/>
          </a:xfrm>
          <a:prstGeom prst="rect">
            <a:avLst/>
          </a:prstGeom>
          <a:noFill/>
        </p:spPr>
        <p:txBody>
          <a:bodyPr wrap="square">
            <a:spAutoFit/>
          </a:bodyPr>
          <a:lstStyle/>
          <a:p>
            <a:r>
              <a:rPr b="1" sz="1200">
                <a:solidFill>
                  <a:srgbClr val="38BDF8"/>
                </a:solidFill>
              </a:rPr>
              <a:t>THANK YOU FOR YOUR VALUED TIME &amp; GUIDANCE
</a:t>
            </a:r>
            <a:r>
              <a:rPr sz="950">
                <a:solidFill>
                  <a:srgbClr val="F8FAFC"/>
                </a:solidFill>
              </a:rPr>
              <a:t>Candidate: Vecha Laxmi Swaraj Babu (12307477 | Roll: 45)  •  Open for Faculty Questions, Feedback &amp; Viva Voce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