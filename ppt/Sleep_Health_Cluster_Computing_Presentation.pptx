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45 SECONDS)</a:t>
            </a:r>
          </a:p>
          <a:p>
            <a:r>
              <a:t>Good morning, respected faculty supervisor Dr. Pardeep Kumar and evaluation committee members. I am Vecha Laxmi Swaraj Babu, registration number 12307477, roll number 45. Today I present my INT315 Cluster Computing project: 'Sleep Health Analysis and Disorder Risk Prediction Using Apache PySpark'. We developed a scalable, leakage-free distributed machine learning pipeline for 100,000 patient observations, achieving 82.43% test accuracy on 20,000 unseen patients. All code, dataset, and documentation are hosted on GitHub under Swarajbabu/SLEEP-HEALTH-ANALYSIS.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50 SECONDS)</a:t>
            </a:r>
          </a:p>
          <a:p>
            <a:r>
              <a:t>This project addresses two fundamental bottlenecks in healthcare informatics. Clinically, sleep disorders affect 30% of adults, yet diagnosing them requires Polysomnography—an expensive, hospital-based test with long waitlists that cannot scale for population triage. Computationally, analyzing wearable sensor telemetry for 100,000 patients crashes standard single-node Python tools like Pandas. Apache PySpark solves both problems by distributing computation across 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45 SECONDS)</a:t>
            </a:r>
          </a:p>
          <a:p>
            <a:r>
              <a:t>Our work follows four distinct milestones: first, distributed data ingestion of 100,000 records; second, parallel data auditing verifying zero nulls across 32 features; third, eliminating retrospective target leakage to ensure clinical validity; and fourth, distributed ensemble training using PySpark MLlib with in-memory inference caching.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50 SECONDS)</a:t>
            </a:r>
          </a:p>
          <a:p>
            <a:r>
              <a:t>The dataset encompasses 100,000 patients across 32 clinical features, calibrated against CDC survey data. Notice the class distribution: Healthy is 54%, Mild is 33%, Moderate is 8.3%, and Severe is 4.07%. Because 87% of patients are in the top two categories, a naive model that always predicts Healthy would score 54% on paper. Our model achieves 82.43% balanced precision and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55 SECONDS)</a:t>
            </a:r>
          </a:p>
          <a:p>
            <a:r>
              <a:t>Here is our complete distributed pipeline. Notice the two architectural advantages: Catalyst Query Optimization and in-memory caching. Catalyst optimizes the physical plan before data moves into memory, while .cache() stores inference predictions in executor RAM, preventing Spark from recomputing the 5-stage pipeline four separate times during metric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45 SECONDS)</a:t>
            </a:r>
          </a:p>
          <a:p>
            <a:r>
              <a:t>On Slide 6, we examine data quality and class distribution. Our parallel scan verified zero missing values across all 32 columns. On the right is the class distribution plot: Healthy and Mild dominate at 87%, while Severe represents 4%. This verified that our model had clean training data but required weighted metrics to handle the imbalance.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50 SECONDS)</a:t>
            </a:r>
          </a:p>
          <a:p>
            <a:r>
              <a:t>Here are the four biomarker gradients discovered via distributed PySpark group-by aggregations. Notice that while sleep duration decreases by 30%, daytime cognitive performance plummets by 73.7% and sleep quality drops by 60.3%. This proves that sleep disorders cause systemic neurobehavioral damage far exceeding simple sleep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50 SECONDS)</a:t>
            </a:r>
          </a:p>
          <a:p>
            <a:r>
              <a:t>On Slide 8, we detail how we prevented target leakage. In healthcare AI, including retrospective morning outcomes like felt_rested and cognitive_score artificially inflates accuracy to 99%, but the model fails in real clinic triage. We eliminated these retrospective columns so the model only relies on baseline habits and overnight vitals.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45 SECONDS)</a:t>
            </a:r>
          </a:p>
          <a:p>
            <a:r>
              <a:t>Turning to model training: Random Forest is uniquely suited for cluster computing because individual decision trees are independent. Spark distributes tree-building tasks across all available CPU threads concurrently. We configured 50 trees with a maximum depth of 8, trained on 80,000 records, and evaluated on 20,000 unseen hold-out patients.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50 SECONDS)</a:t>
            </a:r>
          </a:p>
          <a:p>
            <a:r>
              <a:t>Here are our empirical results on 20,000 unseen patients. Overall Accuracy reached 82.43%, Weighted F1 reached 81.32%, Precision reached 80.35%, and Recall reached 82.43%. This outperforms the naive majority baseline of 54.16% by more than 28 percentage points. The balance between precision and recall ensures that we minimize false alarms while preventing missed diagnoses in high-risk patients.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55 SECONDS)</a:t>
            </a:r>
          </a:p>
          <a:p>
            <a:r>
              <a:t>Because this is an INT315 Cluster Computing evaluation, Slide 11 breaks down the three architectural advantages of Apache Spark over single-node systems: Catalyst query optimization, in-memory caching via .cache(), and multi-threaded parallel tree induction. Furthermore, this pipeline is 100% portable to enterprise AWS EMR or Hadoop YARN clusters without changing application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45 SECONDS)</a:t>
            </a:r>
          </a:p>
          <a:p>
            <a:r>
              <a:t>A mature engineering presentation acknowledges limitations and outlines a roadmap. We note our synthetic data calibration and single-node cluster simulation. For future work, we propose distributed hyperparameter tuning, class-weighted rebalancing, and Spark Structured Streaming for real-time smartwatch streams.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(TIME: 40 SECONDS)</a:t>
            </a:r>
          </a:p>
          <a:p>
            <a:r>
              <a:t>In conclusion, we have demonstrated that Apache PySpark provides the ideal distributed cluster computing infrastructure for large-scale clinical sleep risk triage. We achieved 82.43% accuracy on 20,000 unseen patients while eliminating single-node memory failure and preventing target leakage. All project artifacts are live on GitHub. Thank you, Dr. Pardeep Kumar and respected panel members. I am ready for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LOVELY PROFESSIONAL UNIVERSITY  |  SCHOOL OF COMPUTER SCIENCE  |  INT315 / NT315</a:t>
            </a:r>
          </a:p>
        </p:txBody>
      </p:sp>
      <p:pic>
        <p:nvPicPr>
          <p:cNvPr id="4" name="Picture 3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475488"/>
            <a:ext cx="2499055" cy="8726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70432"/>
            <a:ext cx="10728655" cy="1371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0F172A"/>
                </a:solidFill>
              </a:defRPr>
            </a:pPr>
            <a:r>
              <a:t>Sleep Health Analysis &amp; Disorder Risk Prediction</a:t>
            </a:r>
            <a:br/>
            <a:r>
              <a:t>Using Apache PySpark</a:t>
            </a:r>
          </a:p>
          <a:p>
            <a:pPr>
              <a:defRPr sz="1500">
                <a:solidFill>
                  <a:srgbClr val="64748B"/>
                </a:solidFill>
              </a:defRPr>
            </a:pPr>
            <a:r>
              <a:t>Distributed Multi-Class Machine Learning Workflow on Apache Spark Cluster Environment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621792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5669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</a:defRPr>
            </a:pPr>
            <a:r>
              <a:t>PROJECT METADATA &amp; ACADEMIC DEFENSE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64748B"/>
                </a:solidFill>
              </a:rPr>
              <a:t>Candidate Name        : </a:t>
            </a:r>
            <a:r>
              <a:rPr sz="1200" b="1">
                <a:solidFill>
                  <a:srgbClr val="0F172A"/>
                </a:solidFill>
              </a:rPr>
              <a:t>Vecha Laxmi Swaraj Babu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64748B"/>
                </a:solidFill>
              </a:rPr>
              <a:t>Registration Number   : </a:t>
            </a:r>
            <a:r>
              <a:rPr sz="1200" b="1">
                <a:solidFill>
                  <a:srgbClr val="0F172A"/>
                </a:solidFill>
              </a:rPr>
              <a:t>12307477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64748B"/>
                </a:solidFill>
              </a:rPr>
              <a:t>Roll Number           : </a:t>
            </a:r>
            <a:r>
              <a:rPr sz="1200" b="1">
                <a:solidFill>
                  <a:srgbClr val="0F172A"/>
                </a:solidFill>
              </a:rPr>
              <a:t>45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64748B"/>
                </a:solidFill>
              </a:rPr>
              <a:t>Course &amp; Code         : </a:t>
            </a:r>
            <a:r>
              <a:rPr sz="1200" b="1">
                <a:solidFill>
                  <a:srgbClr val="0F172A"/>
                </a:solidFill>
              </a:rPr>
              <a:t>INT315 / NT315 : Cluster Computing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64748B"/>
                </a:solidFill>
              </a:rPr>
              <a:t>Faculty Supervisor    : </a:t>
            </a:r>
            <a:r>
              <a:rPr sz="1200" b="1">
                <a:solidFill>
                  <a:srgbClr val="0F172A"/>
                </a:solidFill>
              </a:rPr>
              <a:t>Dr. / Prof. Pardeep Kumar</a:t>
            </a:r>
          </a:p>
          <a:p>
            <a:r>
              <a:rPr sz="1150" b="1">
                <a:solidFill>
                  <a:srgbClr val="64748B"/>
                </a:solidFill>
              </a:rPr>
              <a:t>Department / School   : </a:t>
            </a:r>
            <a:r>
              <a:rPr sz="1200" b="1">
                <a:solidFill>
                  <a:srgbClr val="0F172A"/>
                </a:solidFill>
              </a:rPr>
              <a:t>School of Computer Science, LPU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017520"/>
            <a:ext cx="4327855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3154680"/>
            <a:ext cx="3794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KEY PROJECT HIGHLIGHTS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</a:rPr>
              <a:t>100,000  </a:t>
            </a:r>
            <a:r>
              <a:rPr sz="1100">
                <a:solidFill>
                  <a:srgbClr val="64748B"/>
                </a:solidFill>
              </a:rPr>
              <a:t>Patient Cohort Records Analyzed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</a:rPr>
              <a:t>82.43%  </a:t>
            </a:r>
            <a:r>
              <a:rPr sz="1100">
                <a:solidFill>
                  <a:srgbClr val="64748B"/>
                </a:solidFill>
              </a:rPr>
              <a:t>Hold-Out Classification Accuracy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</a:rPr>
              <a:t>81.32%  </a:t>
            </a:r>
            <a:r>
              <a:rPr sz="1100">
                <a:solidFill>
                  <a:srgbClr val="64748B"/>
                </a:solidFill>
              </a:rPr>
              <a:t>Weighted Multiclass F1-Score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</a:rPr>
              <a:t>PySpark 3.5  </a:t>
            </a:r>
            <a:r>
              <a:rPr sz="1100">
                <a:solidFill>
                  <a:srgbClr val="64748B"/>
                </a:solidFill>
              </a:rPr>
              <a:t>Distributed MLlib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Dilemma vs. Computational Bottleneck in Sleep Medicine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</a:defRPr>
            </a:pPr>
            <a:r>
              <a:t>THE CLINICAL SCREENING BOTTLENECK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High Global Prevalence: </a:t>
            </a:r>
            <a:r>
              <a:rPr sz="1100">
                <a:solidFill>
                  <a:srgbClr val="64748B"/>
                </a:solidFill>
              </a:rPr>
              <a:t>Sleep disorders (apnea, chronic insomnia) afflict over 30% of adults worldwide, leading to cardiovascular and cognitive morbidity.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Invasive Gold Standard: </a:t>
            </a:r>
            <a:r>
              <a:rPr sz="1100">
                <a:solidFill>
                  <a:srgbClr val="64748B"/>
                </a:solidFill>
              </a:rPr>
              <a:t>Diagnosis requires overnight Polysomnography (PSG) in dedicated hospital sleep labs with extensive wired sensors.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Resource Bottleneck: </a:t>
            </a:r>
            <a:r>
              <a:rPr sz="1100">
                <a:solidFill>
                  <a:srgbClr val="64748B"/>
                </a:solidFill>
              </a:rPr>
              <a:t>PSG requires clinical overnight stays, costs thousands of dollars, and faces multi-month appointment waitlists.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Scalability Failure: </a:t>
            </a:r>
            <a:r>
              <a:rPr sz="1100">
                <a:solidFill>
                  <a:srgbClr val="64748B"/>
                </a:solidFill>
              </a:rPr>
              <a:t>In-lab PSG cannot serve as a population-level preventative screening tool. Non-invasive algorithmic triage is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242255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</a:defRPr>
            </a:pPr>
            <a:r>
              <a:t>THE COMPUTATIONAL MEMORY WALL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Continuous Wearable Telemetry: </a:t>
            </a:r>
            <a:r>
              <a:rPr sz="1100">
                <a:solidFill>
                  <a:srgbClr val="64748B"/>
                </a:solidFill>
              </a:rPr>
              <a:t>Consumer smartwatches and EHRs generate continuous streams of sleep stages, heart rates, and daytime steps.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Single-Node Failure: </a:t>
            </a:r>
            <a:r>
              <a:rPr sz="1100">
                <a:solidFill>
                  <a:srgbClr val="64748B"/>
                </a:solidFill>
              </a:rPr>
              <a:t>Standard Python tools (Pandas, Scikit-Learn) load full datasets into memory and compute on a single CPU core.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Out-of-Memory Threshold: </a:t>
            </a:r>
            <a:r>
              <a:rPr sz="1100">
                <a:solidFill>
                  <a:srgbClr val="64748B"/>
                </a:solidFill>
              </a:rPr>
              <a:t>At 100,000 records with 32 attributes, categorical encoding and tree induction trigger memory swapping and crashes.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Horizontal Scalability: </a:t>
            </a:r>
            <a:r>
              <a:rPr sz="1100">
                <a:solidFill>
                  <a:srgbClr val="64748B"/>
                </a:solidFill>
              </a:rPr>
              <a:t>Single-node architectures cannot scale linearly as registries grow into millions of patient observations.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413248"/>
            <a:ext cx="10728655" cy="8412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486400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0F172A"/>
                </a:solidFill>
              </a:rPr>
              <a:t>DISTRIBUTED CLUSTER COMPUTING SOLUTION: </a:t>
            </a:r>
            <a:r>
              <a:rPr sz="1150">
                <a:solidFill>
                  <a:srgbClr val="1E293B"/>
                </a:solidFill>
              </a:rPr>
              <a:t>Apache PySpark resolves this dual challenge by partitioning 100,000 records across parallel worker threads (`local[*]`), compiling queries with Catalyst optimization, and training MLlib pipelines without memory exhaustion.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Objectives of the Distributed Machine Learning Workflow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03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1609344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554480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Distributed Data Ingestion &amp; Schema Parsing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Ingest 100,000 patient records from CSV storage using PySpark's resilient DataFrame API in local[*] multi-threaded cluster mode, automatically inferring data types across 32 clinical features without schema truncation.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33472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2779776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724912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Parallel Quality Verification &amp; Class Profiling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Execute parallelized Spark SQL aggregation queries across all 32 columns simultaneously to verify zero missing values, evaluate class imbalance, and compute biomarker averages across risk tiers.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03904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" y="3950208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895344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Target Leakage Prevention &amp; Pipeline Engineering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Proactively strip non-predictive IDs and retrospective next-day recovery metrics (felt_rested, cognitive_score) to preserve prospective triage integrity, constructing an integrated MLlib transformation pipeline.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74336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5120640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065776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Ensemble Training, In-Memory Caching &amp; Evaluation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Train a distributed RandomForestClassifier (50 trees, maxDepth 8) on 80,000 records, cache inference DataFrames in executor RAM (.cache()), and compute multiclass Accuracy, F1, Precision, and Recall.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DATASET SPECIFICATION &amp; CLINICAL ATTRIBUTES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100,000-Patient Cohort &amp; Feature Dimension Taxonomy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04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44752"/>
            <a:ext cx="2542032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0876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100,000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Total Patient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444752"/>
            <a:ext cx="2542032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150876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32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Clinical Attributes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444752"/>
            <a:ext cx="2542032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50876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14.87 MB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Uncompressed Data Volume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444752"/>
            <a:ext cx="2542032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3416" y="150876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CDC NHIS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Survey-Calibrated Reference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68880"/>
            <a:ext cx="62179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578608"/>
            <a:ext cx="5760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FEATURE DOMAIN BREAKDOWN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F172A"/>
                </a:solidFill>
              </a:rPr>
              <a:t>•  Demographics (5): </a:t>
            </a:r>
            <a:r>
              <a:rPr sz="1050">
                <a:solidFill>
                  <a:srgbClr val="64748B"/>
                </a:solidFill>
              </a:rPr>
              <a:t>Age (18-65), Gender, Country, 12 Occupations (Nurses, Engineers, Doctors, etc.)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F172A"/>
                </a:solidFill>
              </a:rPr>
              <a:t>•  Sleep Architecture (6): </a:t>
            </a:r>
            <a:r>
              <a:rPr sz="1050">
                <a:solidFill>
                  <a:srgbClr val="64748B"/>
                </a:solidFill>
              </a:rPr>
              <a:t>Duration (hrs), Quality (1-10), REM%, Deep Sleep%, Latency (mins), Nightly Awakenings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F172A"/>
                </a:solidFill>
              </a:rPr>
              <a:t>•  Cardiovascular &amp; Vitals (5): </a:t>
            </a:r>
            <a:r>
              <a:rPr sz="1050">
                <a:solidFill>
                  <a:srgbClr val="64748B"/>
                </a:solidFill>
              </a:rPr>
              <a:t>Stress Score (1-10), Resting Heart Rate (bpm), Systolic &amp; Diastolic Blood Pressure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F172A"/>
                </a:solidFill>
              </a:rPr>
              <a:t>•  Lifestyle &amp; Environmental (8): </a:t>
            </a:r>
            <a:r>
              <a:rPr sz="1050">
                <a:solidFill>
                  <a:srgbClr val="64748B"/>
                </a:solidFill>
              </a:rPr>
              <a:t>Evening Caffeine, Alcohol, Pre-bed Screen Time, Daily Steps, Exercise, Shift Work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F172A"/>
                </a:solidFill>
              </a:rPr>
              <a:t>•  Circadian Dynamics (4): </a:t>
            </a:r>
            <a:r>
              <a:rPr sz="1050">
                <a:solidFill>
                  <a:srgbClr val="64748B"/>
                </a:solidFill>
              </a:rPr>
              <a:t>Chronotype (Morning/Evening), Season, Weekday vs Weekend, Sleep Diff (Social Jetlag)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F172A"/>
                </a:solidFill>
              </a:rPr>
              <a:t>•  Excluded Leakage Columns (3): </a:t>
            </a:r>
            <a:r>
              <a:rPr sz="1050">
                <a:solidFill>
                  <a:srgbClr val="64748B"/>
                </a:solidFill>
              </a:rPr>
              <a:t>person_id (arbitrary ID), felt_rested, cognitive_score (retrospective morning outcomes)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2468880"/>
            <a:ext cx="4327855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2578608"/>
            <a:ext cx="3886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TARGET DISTRIBUTION: sleep_disorder_risk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Healthy          </a:t>
            </a:r>
            <a:r>
              <a:rPr b="1" sz="1200">
                <a:solidFill>
                  <a:srgbClr val="0F172A"/>
                </a:solidFill>
              </a:rPr>
              <a:t>(54.16%)  </a:t>
            </a:r>
            <a:r>
              <a:rPr sz="1050">
                <a:solidFill>
                  <a:srgbClr val="64748B"/>
                </a:solidFill>
              </a:rPr>
              <a:t>54,156 patients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Mild Risk        </a:t>
            </a:r>
            <a:r>
              <a:rPr b="1" sz="1200">
                <a:solidFill>
                  <a:srgbClr val="0F172A"/>
                </a:solidFill>
              </a:rPr>
              <a:t>(33.48%)  </a:t>
            </a:r>
            <a:r>
              <a:rPr sz="1050">
                <a:solidFill>
                  <a:srgbClr val="64748B"/>
                </a:solidFill>
              </a:rPr>
              <a:t>33,479 patients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Moderate Risk    </a:t>
            </a:r>
            <a:r>
              <a:rPr b="1" sz="1200">
                <a:solidFill>
                  <a:srgbClr val="0F172A"/>
                </a:solidFill>
              </a:rPr>
              <a:t>(8.30%)  </a:t>
            </a:r>
            <a:r>
              <a:rPr sz="1050">
                <a:solidFill>
                  <a:srgbClr val="64748B"/>
                </a:solidFill>
              </a:rPr>
              <a:t>8,299 patients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Severe Risk      </a:t>
            </a:r>
            <a:r>
              <a:rPr b="1" sz="1200">
                <a:solidFill>
                  <a:srgbClr val="0F172A"/>
                </a:solidFill>
              </a:rPr>
              <a:t>(4.07%)  </a:t>
            </a:r>
            <a:r>
              <a:rPr sz="1050">
                <a:solidFill>
                  <a:srgbClr val="64748B"/>
                </a:solidFill>
              </a:rPr>
              <a:t>4,066 patients</a:t>
            </a:r>
          </a:p>
          <a:p>
            <a:pPr>
              <a:spcBef>
                <a:spcPts val="1200"/>
              </a:spcBef>
            </a:pPr>
            <a:r>
              <a:rPr b="1" sz="1100">
                <a:solidFill>
                  <a:srgbClr val="0F172A"/>
                </a:solidFill>
              </a:rPr>
              <a:t>CRITICAL IMBALANCE OBSERVATION:
</a:t>
            </a:r>
            <a:r>
              <a:rPr sz="1000">
                <a:solidFill>
                  <a:srgbClr val="64748B"/>
                </a:solidFill>
              </a:rPr>
              <a:t>Healthy + Mild account for 87.64% of the cohort. A naive baseline guessing 'Healthy' reaches 54.16% accuracy with zero diagnostic utility. Our distributed model must prove true multi-class discriminative precision.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DISTRIBUTED SYSTEMS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End-to-End Distributed Cluster Computing ML Workflow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05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2029968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" y="1600200"/>
            <a:ext cx="1700784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965960"/>
            <a:ext cx="181051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Distributed Ingestion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spark.read.csv()</a:t>
            </a:r>
            <a:br/>
            <a:r>
              <a:t>• Header=True, InferSchema</a:t>
            </a:r>
            <a:br/>
            <a:r>
              <a:t>• 100,000 rows × 32 cols</a:t>
            </a:r>
            <a:br/>
            <a:r>
              <a:t>• Lazy partition loading</a:t>
            </a:r>
            <a:br/>
            <a:r>
              <a:t>• local[*] core allocation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63040"/>
            <a:ext cx="2029968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1528" y="1600200"/>
            <a:ext cx="1700784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1965960"/>
            <a:ext cx="181051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Parallel Quality Audit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Spark SQL aggregation</a:t>
            </a:r>
            <a:br/>
            <a:r>
              <a:t>• F.sum(F.when(isNull...))</a:t>
            </a:r>
            <a:br/>
            <a:r>
              <a:t>• Evaluated across 32 cols</a:t>
            </a:r>
            <a:br/>
            <a:r>
              <a:t>• Confirms 0 null values</a:t>
            </a:r>
            <a:br/>
            <a:r>
              <a:t>• Zero data loss guarantee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2352" y="1463040"/>
            <a:ext cx="2029968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66944" y="1600200"/>
            <a:ext cx="1700784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965960"/>
            <a:ext cx="181051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Leakage Sanitization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Drop person_id (ID)</a:t>
            </a:r>
            <a:br/>
            <a:r>
              <a:t>• Drop felt_rested (post)</a:t>
            </a:r>
            <a:br/>
            <a:r>
              <a:t>• Drop cognitive_score</a:t>
            </a:r>
            <a:br/>
            <a:r>
              <a:t>• Prospective clinical triage</a:t>
            </a:r>
            <a:br/>
            <a:r>
              <a:t>• 80/20 train/test split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87768" y="1463040"/>
            <a:ext cx="2029968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00200"/>
            <a:ext cx="1700784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97496" y="1965960"/>
            <a:ext cx="181051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Spark MLlib Pipeline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StringIndexer (3 categoricals)</a:t>
            </a:r>
            <a:br/>
            <a:r>
              <a:t>• OneHotEncoder (sparse vects)</a:t>
            </a:r>
            <a:br/>
            <a:r>
              <a:t>• VectorAssembler (28 feats)</a:t>
            </a:r>
            <a:br/>
            <a:r>
              <a:t>• RandomForest (50 trees, d=8)</a:t>
            </a:r>
            <a:br/>
            <a:r>
              <a:t>• Atomic pipeline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73184" y="1463040"/>
            <a:ext cx="2029968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6" y="1600200"/>
            <a:ext cx="1700784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1965960"/>
            <a:ext cx="181051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Cached Evaluation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predictions.cache()</a:t>
            </a:r>
            <a:br/>
            <a:r>
              <a:t>• Persist in executor RAM</a:t>
            </a:r>
            <a:br/>
            <a:r>
              <a:t>• MulticlassEvaluator</a:t>
            </a:r>
            <a:br/>
            <a:r>
              <a:t>• Accuracy: 82.43%</a:t>
            </a:r>
            <a:br/>
            <a:r>
              <a:t>• Weighted F1: 81.32%</a:t>
            </a:r>
            <a:br/>
            <a:r>
              <a:t>• Zero redundant DAG passes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63440"/>
            <a:ext cx="10728655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75488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CORE DISTRIBUTED CLUSTER COMPUTING PRINCIPLES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0F172A"/>
                </a:solidFill>
              </a:rPr>
              <a:t>•  Catalyst Query Optimizer: </a:t>
            </a:r>
            <a:r>
              <a:rPr sz="1050">
                <a:solidFill>
                  <a:srgbClr val="64748B"/>
                </a:solidFill>
              </a:rPr>
              <a:t>Spark constructs logical execution plans, combining column projections and pushing down filters before physical data materialization.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0F172A"/>
                </a:solidFill>
              </a:rPr>
              <a:t>•  Multi-Threaded Partitioning (`local[*]`): </a:t>
            </a:r>
            <a:r>
              <a:rPr sz="1050">
                <a:solidFill>
                  <a:srgbClr val="64748B"/>
                </a:solidFill>
              </a:rPr>
              <a:t>Spark binds driver and executor tasks across all virtual CPU cores on the host, processing DataFrame partitions in parallel worker threads.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0F172A"/>
                </a:solidFill>
              </a:rPr>
              <a:t>•  In-Memory Caching (`.cache()`): </a:t>
            </a:r>
            <a:r>
              <a:rPr sz="1050">
                <a:solidFill>
                  <a:srgbClr val="64748B"/>
                </a:solidFill>
              </a:rPr>
              <a:t>Evaluating 4 multiclass metrics sequentially normally forces 4 separate evaluations of the feature transformation DAG. Caching predictions in memory eliminates redundant passes.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DATA QUALITY &amp; EXPLORATORY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 Quality Verification &amp; Class Distribution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06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PARALLEL QUALITY VERIFICATION AUDIT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 Simultaneous Multi-Column Scan: </a:t>
            </a:r>
            <a:r>
              <a:rPr sz="1100">
                <a:solidFill>
                  <a:srgbClr val="64748B"/>
                </a:solidFill>
              </a:rPr>
              <a:t>Rather than scanning columns sequentially, PySpark executes a single parallelized Spark SQL aggregation expression across all 32 clinical features simultaneously.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 Data Completeness Result: </a:t>
            </a:r>
            <a:r>
              <a:rPr sz="1100">
                <a:solidFill>
                  <a:srgbClr val="64748B"/>
                </a:solidFill>
              </a:rPr>
              <a:t>Mathematically verified 0 null or missing values across all 100,000 observations (100.0% data completeness).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 Zero Imputation Bias: </a:t>
            </a:r>
            <a:r>
              <a:rPr sz="1100">
                <a:solidFill>
                  <a:srgbClr val="64748B"/>
                </a:solidFill>
              </a:rPr>
              <a:t>Because all records are intact, zero artificial imputation (mean/median replacement) was required, preserving authentic physiological distributions.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 Partition-Level Integrity: </a:t>
            </a:r>
            <a:r>
              <a:rPr sz="1100">
                <a:solidFill>
                  <a:srgbClr val="64748B"/>
                </a:solidFill>
              </a:rPr>
              <a:t>Each partition block verifies local completeness concurrently, eliminating driver bottlenecks during ingestion.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EMPIRICAL CLASS DISTRIBUTION (N=100,000)</a:t>
            </a:r>
          </a:p>
        </p:txBody>
      </p:sp>
      <p:pic>
        <p:nvPicPr>
          <p:cNvPr id="14" name="Picture 13" descr="chart_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240280"/>
            <a:ext cx="4572000" cy="29542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CLINICAL BIOMARKER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Biomarker Gradients Across Risk Tiers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07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44752"/>
            <a:ext cx="2542032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36192"/>
            <a:ext cx="2322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Sleep Duration (Hours)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Healthy: 6.93h -&gt; Severe: 4.84h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Delta: -30.2%</a:t>
            </a:r>
          </a:p>
        </p:txBody>
      </p:sp>
      <p:pic>
        <p:nvPicPr>
          <p:cNvPr id="12" name="Picture 11" descr="download (3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514600"/>
            <a:ext cx="2322576" cy="13127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56432" y="1444752"/>
            <a:ext cx="2542032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536192"/>
            <a:ext cx="2322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Sleep Quality (Scale 1-10)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Healthy: 5.77 -&gt; Severe: 2.29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Delta: -60.3%</a:t>
            </a:r>
          </a:p>
        </p:txBody>
      </p:sp>
      <p:pic>
        <p:nvPicPr>
          <p:cNvPr id="15" name="Picture 14" descr="down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514600"/>
            <a:ext cx="2322576" cy="13127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81344" y="1444752"/>
            <a:ext cx="2542032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536192"/>
            <a:ext cx="2322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Daily Stress (Scale 1-10)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Healthy: 5.85 -&gt; Severe: 7.48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Delta: +27.9%</a:t>
            </a:r>
          </a:p>
        </p:txBody>
      </p:sp>
      <p:pic>
        <p:nvPicPr>
          <p:cNvPr id="18" name="Picture 17" descr="download (1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2514600"/>
            <a:ext cx="2322576" cy="13127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906256" y="1444752"/>
            <a:ext cx="2542032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536192"/>
            <a:ext cx="2322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Cognitive Performance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Healthy: 72.35 -&gt; Severe: 19.04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Delta: -73.7%</a:t>
            </a:r>
          </a:p>
        </p:txBody>
      </p:sp>
      <p:pic>
        <p:nvPicPr>
          <p:cNvPr id="21" name="Picture 20" descr="download (2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2514600"/>
            <a:ext cx="2322576" cy="13127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31520" y="5468112"/>
            <a:ext cx="10728655" cy="8046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541264"/>
            <a:ext cx="10241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0F172A"/>
                </a:solidFill>
              </a:rPr>
              <a:t>CRITICAL CLINICAL TAKEAWAY: </a:t>
            </a:r>
            <a:r>
              <a:rPr sz="1100">
                <a:solidFill>
                  <a:srgbClr val="1E293B"/>
                </a:solidFill>
              </a:rPr>
              <a:t>While total sleep duration declines by ~2 hours (-30.2%), subjective sleep quality plummets by -60.3% and cognitive performance collapses by -73.7%. This proves that disordered sleep causes profound systemic neurobehavioral damage far exceeding simple sleep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FEATURE ENGINEERING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Triage Integrity &amp; Target Leakage Prevention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08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TARGET LEAKAGE PREVENTION RATIONALE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•  The 'Target Leakage' Trap: </a:t>
            </a:r>
            <a:r>
              <a:rPr sz="1100">
                <a:solidFill>
                  <a:srgbClr val="64748B"/>
                </a:solidFill>
              </a:rPr>
              <a:t>In clinical ML, target leakage occurs when retrospective outcome variables are accidentally fed into the model as input features during training.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•  Excluded: felt_rested: </a:t>
            </a:r>
            <a:r>
              <a:rPr sz="1100">
                <a:solidFill>
                  <a:srgbClr val="64748B"/>
                </a:solidFill>
              </a:rPr>
              <a:t>Evaluated the morning *after* sleep. If a patient feels unrefreshed, they are already manifesting the disorder. Including this produces artificially high ~99% accuracy that fails in actual triage.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•  Excluded: cognitive_score: </a:t>
            </a:r>
            <a:r>
              <a:rPr sz="1100">
                <a:solidFill>
                  <a:srgbClr val="64748B"/>
                </a:solidFill>
              </a:rPr>
              <a:t>Evaluated during daytime tasks. It is a secondary neurobehavioral consequence of the sleep disorder, not an overnight predictive biomarker.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•  Excluded: person_id: </a:t>
            </a:r>
            <a:r>
              <a:rPr sz="1100">
                <a:solidFill>
                  <a:srgbClr val="64748B"/>
                </a:solidFill>
              </a:rPr>
              <a:t>Arbitrary database primary key with zero physiological predictive signal.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•  Prospective Triage Integrity: </a:t>
            </a:r>
            <a:r>
              <a:rPr sz="1100">
                <a:solidFill>
                  <a:srgbClr val="64748B"/>
                </a:solidFill>
              </a:rPr>
              <a:t>A valid clinical screening tool must evaluate risk using only baseline demographics, habits, and overnight vitals *before* next-day neurocognitive symptoms manifest.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</a:defRPr>
            </a:pPr>
            <a:r>
              <a:t>DISTRIBUTED MLlib PIPELINE STAGES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1. StringIndexer: </a:t>
            </a:r>
            <a:r>
              <a:rPr sz="1100">
                <a:solidFill>
                  <a:srgbClr val="64748B"/>
                </a:solidFill>
              </a:rPr>
              <a:t>Maps categorical strings (gender, occupation, country) to numerical indices [0, C-1] based on frequency.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2. OneHotEncoder: </a:t>
            </a:r>
            <a:r>
              <a:rPr sz="1100">
                <a:solidFill>
                  <a:srgbClr val="64748B"/>
                </a:solidFill>
              </a:rPr>
              <a:t>Converts numerical category indices into sparse binary dummy vectors, preventing artificial ordinal ranking.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3. VectorAssembler: </a:t>
            </a:r>
            <a:r>
              <a:rPr sz="1100">
                <a:solidFill>
                  <a:srgbClr val="64748B"/>
                </a:solidFill>
              </a:rPr>
              <a:t>Consolidates all 28 numerical features and one-hot vectors into a single unified dense vector named 'features'.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4. Target StringIndexer: </a:t>
            </a:r>
            <a:r>
              <a:rPr sz="1100">
                <a:solidFill>
                  <a:srgbClr val="64748B"/>
                </a:solidFill>
              </a:rPr>
              <a:t>Encodes the multiclass target label (sleep_disorder_risk) into double indices [0.0 to 3.0] as 'label'.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5. Atomic Pipeline Composition: </a:t>
            </a:r>
            <a:r>
              <a:rPr sz="1100">
                <a:solidFill>
                  <a:srgbClr val="64748B"/>
                </a:solidFill>
              </a:rPr>
              <a:t>All transformers and estimators are bundled into a single pyspark.ml.Pipeline, preventing test data leakage during cross-validation.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MODEL TRAINING &amp; INFERENCE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Distributed Ensemble Learning via Spark MLlib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09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</a:defRPr>
            </a:pPr>
            <a:r>
              <a:t>WHY RANDOM FOREST IN APACHE SPARK?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Non-Linear Clinical Boundaries: </a:t>
            </a:r>
            <a:r>
              <a:rPr sz="1100">
                <a:solidFill>
                  <a:srgbClr val="64748B"/>
                </a:solidFill>
              </a:rPr>
              <a:t>Physiological biomarker interactions (e.g. high stress + short sleep + screen time) are highly non-linear and cannot be separated by linear planes.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Scale Invariance: </a:t>
            </a:r>
            <a:r>
              <a:rPr sz="1100">
                <a:solidFill>
                  <a:srgbClr val="64748B"/>
                </a:solidFill>
              </a:rPr>
              <a:t>Decision tree partitioning is invariant to feature scale, eliminating the requirement for sensitive min-max scaling.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Embarrassingly Parallel: </a:t>
            </a:r>
            <a:r>
              <a:rPr sz="1100">
                <a:solidFill>
                  <a:srgbClr val="64748B"/>
                </a:solidFill>
              </a:rPr>
              <a:t>Each decision tree in an ensemble is grown independently. Spark's task scheduler distributes tree-building tasks across all CPU worker threads concurrently.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Overfitting Resilience: </a:t>
            </a:r>
            <a:r>
              <a:rPr sz="1100">
                <a:solidFill>
                  <a:srgbClr val="64748B"/>
                </a:solidFill>
              </a:rPr>
              <a:t>Averaging predictions across 50 independently randomized decision trees significantly reduces variance on noisy wearable telemetry.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</a:defRPr>
            </a:pPr>
            <a:r>
              <a:t>MODEL CONFIGURATION &amp; TRAINING SPECS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Number of Trees (`numTrees`): </a:t>
            </a:r>
            <a:r>
              <a:rPr sz="1100">
                <a:solidFill>
                  <a:srgbClr val="64748B"/>
                </a:solidFill>
              </a:rPr>
              <a:t>50 ensemble decision trees built in parallel across worker cores.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Tree Depth (`maxDepth`): </a:t>
            </a:r>
            <a:r>
              <a:rPr sz="1100">
                <a:solidFill>
                  <a:srgbClr val="64748B"/>
                </a:solidFill>
              </a:rPr>
              <a:t>Maximum depth of 8 splits, preventing individual tree overfitting.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Training Cohort Split: </a:t>
            </a:r>
            <a:r>
              <a:rPr sz="1100">
                <a:solidFill>
                  <a:srgbClr val="64748B"/>
                </a:solidFill>
              </a:rPr>
              <a:t>80% partition (80,000 patient records) allocated for distributed model fitting.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Unseen Hold-Out Partition: </a:t>
            </a:r>
            <a:r>
              <a:rPr sz="1100">
                <a:solidFill>
                  <a:srgbClr val="64748B"/>
                </a:solidFill>
              </a:rPr>
              <a:t>20% partition (20,000 patient records) strictly reserved for hold-out evaluation.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Randomization Seed: </a:t>
            </a:r>
            <a:r>
              <a:rPr sz="1100">
                <a:solidFill>
                  <a:srgbClr val="64748B"/>
                </a:solidFill>
              </a:rPr>
              <a:t>seed=42 applied across data splitting and tree subsampling for strict reproducibility.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0F172A"/>
                </a:solidFill>
              </a:rPr>
              <a:t>Off-Heap In-Memory Caching: </a:t>
            </a:r>
            <a:r>
              <a:rPr sz="1100">
                <a:solidFill>
                  <a:srgbClr val="64748B"/>
                </a:solidFill>
              </a:rPr>
              <a:t>Inference DataFrame cached in executor memory (.cache()) for zero-latency multi-metric evaluation.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RESULTS &amp; QUANTITATIVE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Model Performance on 20,000 Unseen Patients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10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44752"/>
            <a:ext cx="2542032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08760"/>
            <a:ext cx="2322576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Accuracy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82.43%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Overall correct classifications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444752"/>
            <a:ext cx="2542032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508760"/>
            <a:ext cx="2322576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Weighted F1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81.32%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Harmonic mean balancing all 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444752"/>
            <a:ext cx="2542032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508760"/>
            <a:ext cx="2322576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Weighted Precision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80.35%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Minimizes false hospital referrals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444752"/>
            <a:ext cx="2542032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508760"/>
            <a:ext cx="2322576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Weighted Recall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82.43%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Maximizes disease detection sensitivity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578608"/>
            <a:ext cx="521208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9748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EVALUATION METRIC BREAKDOWN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</a:rPr>
              <a:t>•  Overall Accuracy (82.43%): </a:t>
            </a:r>
            <a:r>
              <a:rPr sz="1000">
                <a:solidFill>
                  <a:srgbClr val="64748B"/>
                </a:solidFill>
              </a:rPr>
              <a:t>Correctly assigns exact risk tier for &gt;82 out of 100 unseen patients across all 4 classes simultaneously.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</a:rPr>
              <a:t>•  Weighted F1-Score (81.32%): </a:t>
            </a:r>
            <a:r>
              <a:rPr sz="1000">
                <a:solidFill>
                  <a:srgbClr val="64748B"/>
                </a:solidFill>
              </a:rPr>
              <a:t>Balances precision and recall across classes, safeguarding detection of minority pathological cohorts.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</a:rPr>
              <a:t>•  Weighted Precision (80.35%): </a:t>
            </a:r>
            <a:r>
              <a:rPr sz="1000">
                <a:solidFill>
                  <a:srgbClr val="64748B"/>
                </a:solidFill>
              </a:rPr>
              <a:t>Minimizes false-positive clinical referrals; ~80% of flagged patients genuinely have sleep risk.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</a:rPr>
              <a:t>•  Weighted Recall (82.43%): </a:t>
            </a:r>
            <a:r>
              <a:rPr sz="1000">
                <a:solidFill>
                  <a:srgbClr val="64748B"/>
                </a:solidFill>
              </a:rPr>
              <a:t>Maximizes diagnostic sensitivity, critical for preventing undiagnosed severe apnea or chronic insomnia.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</a:rPr>
              <a:t>•  Baseline Outperformance: </a:t>
            </a:r>
            <a:r>
              <a:rPr sz="1000">
                <a:solidFill>
                  <a:srgbClr val="64748B"/>
                </a:solidFill>
              </a:rPr>
              <a:t>Surpasses naive majority-class baseline (54.16%) by over +28.27 percentage 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578608"/>
            <a:ext cx="5242255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6974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MODEL TEST METRICS (N=20,000 UNSEEN)</a:t>
            </a:r>
          </a:p>
        </p:txBody>
      </p:sp>
      <p:pic>
        <p:nvPicPr>
          <p:cNvPr id="22" name="Picture 21" descr="chart_model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3154680"/>
            <a:ext cx="4572000" cy="29542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CLUSTER COMPUTING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Spark Architectural Advantages: Catalyst, Caching &amp; Parallelism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11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1609344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554480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Catalyst Query Optimization &amp; Lazy DAGs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Spark avoids immediate physical execution upon invoking transformations. Instead, it constructs a Directed Acyclic Graph (DAG) and compiles an optimized physical plan. Catalyst merges filter predicates and executes columnar projections, drastically cutting memory usage compared to Pandas.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33472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2779776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724912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In-Memory Caching (`predictions.cache()`)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evaluating Accuracy, F1, Precision, and Recall sequentially, a naive Spark script would re-evaluate the upstream 5-stage feature transformation pipeline 4 times. Caching the test inference DataFrame in executor RAM avoids 3 redundant pipeline executions, saving massive compute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03904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" y="3950208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895344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Parallel Partition Scheduling &amp; Tree Induction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PySpark distributes tree building across all CPU cores simultaneously (`local[*]`). Each partition evaluates split points on local subsets of data and synchronizes tree nodes with the driver, achieving linear CPU core saturation.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74336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5120640"/>
            <a:ext cx="77724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065776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Enterprise Scalability to Multi-Node Clusters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Because all code uses PySpark DataFrame and MLlib Pipeline APIs, this notebook can be deployed directly to an enterprise Apache Hadoop YARN, AWS EMR, or Kubernetes multi-node cluster without altering a single line of business logic.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Engineering Trade-Offs &amp; Strategic Scalability Roadmap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12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RECOGNIZED PROJECT LIMITATIONS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Synthetic Data Calibration: </a:t>
            </a:r>
            <a:r>
              <a:rPr sz="1100">
                <a:solidFill>
                  <a:srgbClr val="64748B"/>
                </a:solidFill>
              </a:rPr>
              <a:t>While calibrated against CDC NHIS epidemiological survey distributions, synthetic cohorts lack real-world wearable sensor motion artifacts, dropped packets, and loose-wrist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Single-Node Simulation: </a:t>
            </a:r>
            <a:r>
              <a:rPr sz="1100">
                <a:solidFill>
                  <a:srgbClr val="64748B"/>
                </a:solidFill>
              </a:rPr>
              <a:t>The Spark cluster ran in local[*] mode inside Google Colab (multi-threaded VM) rather than a physical bare-metal multi-node server cluster.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Fixed Hyperparameters: </a:t>
            </a:r>
            <a:r>
              <a:rPr sz="1100">
                <a:solidFill>
                  <a:srgbClr val="64748B"/>
                </a:solidFill>
              </a:rPr>
              <a:t>Random Forest parameters (50 trees, maxDepth 8) were chosen based on empirical benchmarks rather than an exhaustive distributed hyperparameter grid search.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Severe Cohort Imbalance: </a:t>
            </a:r>
            <a:r>
              <a:rPr sz="1100">
                <a:solidFill>
                  <a:srgbClr val="64748B"/>
                </a:solidFill>
              </a:rPr>
              <a:t>The Severe category represents only 4.07% (4,066 records), which limits granular sub-type classification (e.g. differentiating severe insomnia from severe central apnea).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FUTURE ENGINEERING ROADMAP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Distributed Hyperparameter Tuning: </a:t>
            </a:r>
            <a:r>
              <a:rPr sz="1100">
                <a:solidFill>
                  <a:srgbClr val="64748B"/>
                </a:solidFill>
              </a:rPr>
              <a:t>Implement Spark's ParamGridBuilder and CrossValidator to optimize tree depth, numTrees, and feature subset strategies across worker nodes.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Class-Weighted Loss &amp; Resampling: </a:t>
            </a:r>
            <a:r>
              <a:rPr sz="1100">
                <a:solidFill>
                  <a:srgbClr val="64748B"/>
                </a:solidFill>
              </a:rPr>
              <a:t>Incorporate cost-sensitive classification weights or distributed SMOTE oversampling to improve detection sensitivity on the rare Severe risk cohort (4.07%).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Real-Time Streaming Telemetry: </a:t>
            </a:r>
            <a:r>
              <a:rPr sz="1100">
                <a:solidFill>
                  <a:srgbClr val="64748B"/>
                </a:solidFill>
              </a:rPr>
              <a:t>Extend from batch processing to real-time micro-batch streaming via Apache Kafka and Spark Structured Streaming for continuous smartwatch telemetry processing.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•  Multi-Node Cloud Deployment: </a:t>
            </a:r>
            <a:r>
              <a:rPr sz="1100">
                <a:solidFill>
                  <a:srgbClr val="64748B"/>
                </a:solidFill>
              </a:rPr>
              <a:t>Deploy the PySpark MLlib pipeline onto an AWS EMR or Databricks Kubernetes cluster to evaluate horizontal cluster speedup on cohorts exceeding 10M records.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PROJECT SUMMARY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Synthesis, Repository Deliverables &amp; Viva Voce</a:t>
            </a:r>
          </a:p>
        </p:txBody>
      </p:sp>
      <p:pic>
        <p:nvPicPr>
          <p:cNvPr id="5" name="Picture 4" descr="lp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347472"/>
            <a:ext cx="1691640" cy="5906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298448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82512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1908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Vecha Laxmi Swaraj Babu (Reg: 12307477 | Roll: 45)  •  Supervisor: Dr. Pardeep Kumar  •  School of Computer Science, LPU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19088"/>
            <a:ext cx="1584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</a:defRPr>
            </a:pPr>
            <a:r>
              <a:t>13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3840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PROJECT SUMMARY &amp; DELIVERABLES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72A"/>
                </a:solidFill>
              </a:rPr>
              <a:t>•  End-to-End Big Data Pipeline: </a:t>
            </a:r>
            <a:r>
              <a:rPr sz="1050">
                <a:solidFill>
                  <a:srgbClr val="64748B"/>
                </a:solidFill>
              </a:rPr>
              <a:t>Successfully built, executed, and validated a distributed PySpark MLlib workflow on 100,000 records without single-node memory failure.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72A"/>
                </a:solidFill>
              </a:rPr>
              <a:t>•  High Diagnostic Accuracy: </a:t>
            </a:r>
            <a:r>
              <a:rPr sz="1050">
                <a:solidFill>
                  <a:srgbClr val="64748B"/>
                </a:solidFill>
              </a:rPr>
              <a:t>Achieved 82.43% test accuracy and 81.32% weighted F1-score across 4 clinical tiers, significantly outperforming the naive 54.16% majority baseline.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72A"/>
                </a:solidFill>
              </a:rPr>
              <a:t>•  Target Leakage Cleanliness: </a:t>
            </a:r>
            <a:r>
              <a:rPr sz="1050">
                <a:solidFill>
                  <a:srgbClr val="64748B"/>
                </a:solidFill>
              </a:rPr>
              <a:t>Demonstrated prospective clinical triage validity by removing retrospective next-day outcome columns.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72A"/>
                </a:solidFill>
              </a:rPr>
              <a:t>•  Cluster Scalability: </a:t>
            </a:r>
            <a:r>
              <a:rPr sz="1050">
                <a:solidFill>
                  <a:srgbClr val="64748B"/>
                </a:solidFill>
              </a:rPr>
              <a:t>Demonstrated Catalyst optimization, DAG lazy scheduling, in-memory caching, and multi-core parallel tree induction.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242255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VERIFIED REPOSITORY ARTIFACTS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0F172A"/>
                </a:solidFill>
              </a:rPr>
              <a:t>•  GitHub Repository: </a:t>
            </a:r>
            <a:r>
              <a:rPr sz="1050">
                <a:solidFill>
                  <a:srgbClr val="64748B"/>
                </a:solidFill>
              </a:rPr>
              <a:t>https://github.com/Swarajbabu/SLEEP-HEALTH-ANALYSIS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0F172A"/>
                </a:solidFill>
              </a:rPr>
              <a:t>•  Project Report (PDF): </a:t>
            </a:r>
            <a:r>
              <a:rPr sz="1050">
                <a:solidFill>
                  <a:srgbClr val="64748B"/>
                </a:solidFill>
              </a:rPr>
              <a:t>16-page formal academic report complete with theoretical formulations, system architecture, and empirical tables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0F172A"/>
                </a:solidFill>
              </a:rPr>
              <a:t>•  PySpark Notebook: </a:t>
            </a:r>
            <a:r>
              <a:rPr sz="1050">
                <a:solidFill>
                  <a:srgbClr val="64748B"/>
                </a:solidFill>
              </a:rPr>
              <a:t>Project.ipynb: fully reproducible, zero-error executable Google Colab notebook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0F172A"/>
                </a:solidFill>
              </a:rPr>
              <a:t>•  Dataset Archive: </a:t>
            </a:r>
            <a:r>
              <a:rPr sz="1050">
                <a:solidFill>
                  <a:srgbClr val="64748B"/>
                </a:solidFill>
              </a:rPr>
              <a:t>sleep_health_dataset.csv: 100,000 rows, 32 attributes (14.87 MB)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0F172A"/>
                </a:solidFill>
              </a:rPr>
              <a:t>•  Visual Asset Gallery: </a:t>
            </a:r>
            <a:r>
              <a:rPr sz="1050">
                <a:solidFill>
                  <a:srgbClr val="64748B"/>
                </a:solidFill>
              </a:rPr>
              <a:t>images/ directory containing all empirical graphs and official LPU logo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0F172A"/>
                </a:solidFill>
              </a:rPr>
              <a:t>•  Defense Manual: </a:t>
            </a:r>
            <a:r>
              <a:rPr sz="1050">
                <a:solidFill>
                  <a:srgbClr val="64748B"/>
                </a:solidFill>
              </a:rPr>
              <a:t>ppt/README.md: complete presentation manual with speaker scripts and viva Q&amp;A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440680"/>
            <a:ext cx="10728655" cy="84124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532120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0F172A"/>
                </a:solidFill>
              </a:rPr>
              <a:t>THANK YOU FOR YOUR VALUED TIME &amp; GUIDANCE
</a:t>
            </a:r>
            <a:r>
              <a:rPr sz="1100">
                <a:solidFill>
                  <a:srgbClr val="1E293B"/>
                </a:solidFill>
              </a:rPr>
              <a:t>Candidate: Vecha Laxmi Swaraj Babu (12307477 | Roll: 45)  •  Open for Faculty Questions, Feedback &amp; Viva Voce Defense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